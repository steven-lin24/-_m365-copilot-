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2" d="100"/>
          <a:sy n="122" d="100"/>
        </p:scale>
        <p:origin x="11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46"/>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DB16931-D22C-4282-A760-EE4672251423}"/>
              </a:ext>
            </a:extLst>
          </p:cNvPr>
          <p:cNvSpPr>
            <a:spLocks noGrp="1"/>
          </p:cNvSpPr>
          <p:nvPr/>
        </p:nvSpPr>
        <p:spPr>
          <a:xfrm>
            <a:off x="0" y="0"/>
            <a:ext cx="12191695" cy="6858000"/>
          </a:xfrm>
          <a:prstGeom prst="rect">
            <a:avLst/>
          </a:prstGeom>
          <a:solidFill>
            <a:srgbClr val="102F46"/>
          </a:solidFill>
          <a:ln w="12700">
            <a:solidFill>
              <a:srgbClr val="102F46"/>
            </a:solidFill>
            <a:prstDash val="solid"/>
          </a:ln>
        </p:spPr>
        <p:txBody>
          <a:bodyPr/>
          <a:lstStyle/>
          <a:p>
            <a:endParaRPr lang="zh-TW" altLang="en-US"/>
          </a:p>
        </p:txBody>
      </p:sp>
      <p:sp>
        <p:nvSpPr>
          <p:cNvPr id="3" name="Shape 1">
            <a:extLst>
              <a:ext uri="{FF2B5EF4-FFF2-40B4-BE49-F238E27FC236}">
                <a16:creationId xmlns:a16="http://schemas.microsoft.com/office/drawing/2014/main" id="{DDFEE132-47B0-40F8-998F-083A2C261B2E}"/>
              </a:ext>
            </a:extLst>
          </p:cNvPr>
          <p:cNvSpPr>
            <a:spLocks noGrp="1"/>
          </p:cNvSpPr>
          <p:nvPr/>
        </p:nvSpPr>
        <p:spPr>
          <a:xfrm>
            <a:off x="7635240" y="0"/>
            <a:ext cx="4553712" cy="6858000"/>
          </a:xfrm>
          <a:prstGeom prst="rect">
            <a:avLst/>
          </a:prstGeom>
          <a:solidFill>
            <a:srgbClr val="16898B">
              <a:alpha val="82000"/>
            </a:srgbClr>
          </a:solidFill>
          <a:ln w="12700">
            <a:solidFill>
              <a:srgbClr val="16898B">
                <a:alpha val="0"/>
              </a:srgbClr>
            </a:solidFill>
            <a:prstDash val="solid"/>
          </a:ln>
        </p:spPr>
        <p:txBody>
          <a:bodyPr/>
          <a:lstStyle/>
          <a:p>
            <a:endParaRPr lang="zh-TW" altLang="en-US"/>
          </a:p>
        </p:txBody>
      </p:sp>
      <p:sp>
        <p:nvSpPr>
          <p:cNvPr id="4" name="Shape 2">
            <a:extLst>
              <a:ext uri="{FF2B5EF4-FFF2-40B4-BE49-F238E27FC236}">
                <a16:creationId xmlns:a16="http://schemas.microsoft.com/office/drawing/2014/main" id="{B284313E-7535-4D1B-8508-3FE9B1106549}"/>
              </a:ext>
            </a:extLst>
          </p:cNvPr>
          <p:cNvSpPr>
            <a:spLocks noGrp="1"/>
          </p:cNvSpPr>
          <p:nvPr/>
        </p:nvSpPr>
        <p:spPr>
          <a:xfrm>
            <a:off x="777240" y="1051560"/>
            <a:ext cx="1051560" cy="0"/>
          </a:xfrm>
          <a:prstGeom prst="line">
            <a:avLst/>
          </a:prstGeom>
          <a:noFill/>
          <a:ln w="12700">
            <a:solidFill>
              <a:srgbClr val="C9A45D"/>
            </a:solidFill>
            <a:prstDash val="solid"/>
          </a:ln>
        </p:spPr>
        <p:txBody>
          <a:bodyPr/>
          <a:lstStyle/>
          <a:p>
            <a:endParaRPr lang="zh-TW" altLang="en-US"/>
          </a:p>
        </p:txBody>
      </p:sp>
      <p:sp>
        <p:nvSpPr>
          <p:cNvPr id="5" name="Text 3">
            <a:extLst>
              <a:ext uri="{FF2B5EF4-FFF2-40B4-BE49-F238E27FC236}">
                <a16:creationId xmlns:a16="http://schemas.microsoft.com/office/drawing/2014/main" id="{865F0985-FDDE-401E-9930-D38609FC8358}"/>
              </a:ext>
            </a:extLst>
          </p:cNvPr>
          <p:cNvSpPr>
            <a:spLocks noGrp="1"/>
          </p:cNvSpPr>
          <p:nvPr/>
        </p:nvSpPr>
        <p:spPr>
          <a:xfrm>
            <a:off x="777240" y="1417320"/>
            <a:ext cx="6583680" cy="685800"/>
          </a:xfrm>
          <a:prstGeom prst="rect">
            <a:avLst/>
          </a:prstGeom>
          <a:noFill/>
        </p:spPr>
        <p:txBody>
          <a:bodyPr wrap="square" lIns="0" tIns="0" rIns="0" bIns="0" anchor="ctr"/>
          <a:lstStyle/>
          <a:p>
            <a:pPr marL="0" indent="0">
              <a:buNone/>
            </a:pPr>
            <a:r>
              <a:rPr sz="3500" b="1">
                <a:solidFill>
                  <a:srgbClr val="FFFFFF"/>
                </a:solidFill>
              </a:rPr>
              <a:t>Product Information and Partnership Proposal</a:t>
            </a:r>
            <a:endParaRPr sz="3500"/>
          </a:p>
        </p:txBody>
      </p:sp>
      <p:sp>
        <p:nvSpPr>
          <p:cNvPr id="6" name="Text 4">
            <a:extLst>
              <a:ext uri="{FF2B5EF4-FFF2-40B4-BE49-F238E27FC236}">
                <a16:creationId xmlns:a16="http://schemas.microsoft.com/office/drawing/2014/main" id="{709D62A6-0CFE-4538-B8CB-DFCEB8C7CA50}"/>
              </a:ext>
            </a:extLst>
          </p:cNvPr>
          <p:cNvSpPr>
            <a:spLocks noGrp="1"/>
          </p:cNvSpPr>
          <p:nvPr/>
        </p:nvSpPr>
        <p:spPr>
          <a:xfrm>
            <a:off x="804672" y="2331720"/>
            <a:ext cx="6583680" cy="411480"/>
          </a:xfrm>
          <a:prstGeom prst="rect">
            <a:avLst/>
          </a:prstGeom>
          <a:noFill/>
        </p:spPr>
        <p:txBody>
          <a:bodyPr wrap="square" lIns="0" tIns="0" rIns="0" bIns="0" anchor="ctr"/>
          <a:lstStyle/>
          <a:p>
            <a:pPr marL="0" indent="0">
              <a:buNone/>
            </a:pPr>
            <a:r>
              <a:rPr sz="1700">
                <a:solidFill>
                  <a:srgbClr val="D6E4E9"/>
                </a:solidFill>
              </a:rPr>
              <a:t>Positioning, specifications and implementation of four fictional medical products</a:t>
            </a:r>
            <a:endParaRPr sz="1700"/>
          </a:p>
        </p:txBody>
      </p:sp>
      <p:sp>
        <p:nvSpPr>
          <p:cNvPr id="7" name="Text 5">
            <a:extLst>
              <a:ext uri="{FF2B5EF4-FFF2-40B4-BE49-F238E27FC236}">
                <a16:creationId xmlns:a16="http://schemas.microsoft.com/office/drawing/2014/main" id="{D642E5A2-44EE-4D41-8CA6-0EB4EFAD4059}"/>
              </a:ext>
            </a:extLst>
          </p:cNvPr>
          <p:cNvSpPr>
            <a:spLocks noGrp="1"/>
          </p:cNvSpPr>
          <p:nvPr/>
        </p:nvSpPr>
        <p:spPr>
          <a:xfrm>
            <a:off x="822960" y="3703320"/>
            <a:ext cx="1188720" cy="210312"/>
          </a:xfrm>
          <a:prstGeom prst="rect">
            <a:avLst/>
          </a:prstGeom>
          <a:noFill/>
        </p:spPr>
        <p:txBody>
          <a:bodyPr wrap="square" lIns="0" tIns="0" rIns="0" bIns="0" anchor="ctr"/>
          <a:lstStyle/>
          <a:p>
            <a:pPr marL="0" indent="0">
              <a:buNone/>
            </a:pPr>
            <a:r>
              <a:rPr sz="1000" b="1">
                <a:solidFill>
                  <a:srgbClr val="9FC9CB"/>
                </a:solidFill>
              </a:rPr>
              <a:t>Presented by</a:t>
            </a:r>
            <a:endParaRPr sz="1000"/>
          </a:p>
        </p:txBody>
      </p:sp>
      <p:sp>
        <p:nvSpPr>
          <p:cNvPr id="8" name="Text 6">
            <a:extLst>
              <a:ext uri="{FF2B5EF4-FFF2-40B4-BE49-F238E27FC236}">
                <a16:creationId xmlns:a16="http://schemas.microsoft.com/office/drawing/2014/main" id="{64643BF2-0026-4F62-BAA7-84F44DFFA8F8}"/>
              </a:ext>
            </a:extLst>
          </p:cNvPr>
          <p:cNvSpPr>
            <a:spLocks noGrp="1"/>
          </p:cNvSpPr>
          <p:nvPr/>
        </p:nvSpPr>
        <p:spPr>
          <a:xfrm>
            <a:off x="822960" y="4005072"/>
            <a:ext cx="2560320" cy="329184"/>
          </a:xfrm>
          <a:prstGeom prst="rect">
            <a:avLst/>
          </a:prstGeom>
          <a:noFill/>
        </p:spPr>
        <p:txBody>
          <a:bodyPr wrap="square" lIns="0" tIns="0" rIns="0" bIns="0" anchor="ctr"/>
          <a:lstStyle/>
          <a:p>
            <a:pPr marL="0" indent="0">
              <a:buNone/>
            </a:pPr>
            <a:r>
              <a:rPr sz="2100" b="1">
                <a:solidFill>
                  <a:srgbClr val="FFFFFF"/>
                </a:solidFill>
              </a:rPr>
              <a:t>Happy Group</a:t>
            </a:r>
            <a:endParaRPr sz="2100"/>
          </a:p>
        </p:txBody>
      </p:sp>
      <p:sp>
        <p:nvSpPr>
          <p:cNvPr id="9" name="Text 7">
            <a:extLst>
              <a:ext uri="{FF2B5EF4-FFF2-40B4-BE49-F238E27FC236}">
                <a16:creationId xmlns:a16="http://schemas.microsoft.com/office/drawing/2014/main" id="{7E6C59E5-207C-48D1-8CEF-56AF483A350F}"/>
              </a:ext>
            </a:extLst>
          </p:cNvPr>
          <p:cNvSpPr>
            <a:spLocks noGrp="1"/>
          </p:cNvSpPr>
          <p:nvPr/>
        </p:nvSpPr>
        <p:spPr>
          <a:xfrm>
            <a:off x="3886200" y="3703320"/>
            <a:ext cx="1188720" cy="210312"/>
          </a:xfrm>
          <a:prstGeom prst="rect">
            <a:avLst/>
          </a:prstGeom>
          <a:noFill/>
        </p:spPr>
        <p:txBody>
          <a:bodyPr wrap="square" lIns="0" tIns="0" rIns="0" bIns="0" anchor="ctr"/>
          <a:lstStyle/>
          <a:p>
            <a:pPr marL="0" indent="0">
              <a:buNone/>
            </a:pPr>
            <a:r>
              <a:rPr sz="1000" b="1">
                <a:solidFill>
                  <a:srgbClr val="9FC9CB"/>
                </a:solidFill>
              </a:rPr>
              <a:t>Prepared for</a:t>
            </a:r>
            <a:endParaRPr sz="1000"/>
          </a:p>
        </p:txBody>
      </p:sp>
      <p:sp>
        <p:nvSpPr>
          <p:cNvPr id="10" name="Text 8">
            <a:extLst>
              <a:ext uri="{FF2B5EF4-FFF2-40B4-BE49-F238E27FC236}">
                <a16:creationId xmlns:a16="http://schemas.microsoft.com/office/drawing/2014/main" id="{B2987D54-F6F9-48BC-ACD1-E80C7BB396CA}"/>
              </a:ext>
            </a:extLst>
          </p:cNvPr>
          <p:cNvSpPr>
            <a:spLocks noGrp="1"/>
          </p:cNvSpPr>
          <p:nvPr/>
        </p:nvSpPr>
        <p:spPr>
          <a:xfrm>
            <a:off x="3886200" y="4005072"/>
            <a:ext cx="2560320" cy="329184"/>
          </a:xfrm>
          <a:prstGeom prst="rect">
            <a:avLst/>
          </a:prstGeom>
          <a:noFill/>
        </p:spPr>
        <p:txBody>
          <a:bodyPr wrap="square" lIns="0" tIns="0" rIns="0" bIns="0" anchor="ctr"/>
          <a:lstStyle/>
          <a:p>
            <a:pPr marL="0" indent="0">
              <a:buNone/>
            </a:pPr>
            <a:r>
              <a:rPr sz="2100" b="1">
                <a:solidFill>
                  <a:srgbClr val="FFFFFF"/>
                </a:solidFill>
              </a:rPr>
              <a:t>Chenggong Medical Institution</a:t>
            </a:r>
            <a:endParaRPr sz="2100"/>
          </a:p>
        </p:txBody>
      </p:sp>
      <p:sp>
        <p:nvSpPr>
          <p:cNvPr id="11" name="Text 9">
            <a:extLst>
              <a:ext uri="{FF2B5EF4-FFF2-40B4-BE49-F238E27FC236}">
                <a16:creationId xmlns:a16="http://schemas.microsoft.com/office/drawing/2014/main" id="{098BF48D-71ED-4C5F-B0AE-46816F44D16E}"/>
              </a:ext>
            </a:extLst>
          </p:cNvPr>
          <p:cNvSpPr>
            <a:spLocks noGrp="1"/>
          </p:cNvSpPr>
          <p:nvPr/>
        </p:nvSpPr>
        <p:spPr>
          <a:xfrm>
            <a:off x="822960" y="6080760"/>
            <a:ext cx="4572000" cy="219456"/>
          </a:xfrm>
          <a:prstGeom prst="rect">
            <a:avLst/>
          </a:prstGeom>
          <a:noFill/>
        </p:spPr>
        <p:txBody>
          <a:bodyPr wrap="square" lIns="0" tIns="0" rIns="0" bIns="0" anchor="ctr"/>
          <a:lstStyle/>
          <a:p>
            <a:pPr marL="0" indent="0">
              <a:buNone/>
            </a:pPr>
            <a:r>
              <a:rPr sz="1000">
                <a:solidFill>
                  <a:srgbClr val="C9A45D"/>
                </a:solidFill>
              </a:rPr>
              <a:t>Product information | Fictional case study</a:t>
            </a:r>
            <a:endParaRPr sz="1000"/>
          </a:p>
        </p:txBody>
      </p:sp>
    </p:spTree>
    <p:extLst>
      <p:ext uri="{BB962C8B-B14F-4D97-AF65-F5344CB8AC3E}">
        <p14:creationId xmlns:p14="http://schemas.microsoft.com/office/powerpoint/2010/main" val="1928591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F578E43-E403-495E-ABAB-BDD77BE538FD}"/>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33466C6D-58B3-44EF-9E31-E792AE87EFF5}"/>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Product Portfolio Overview</a:t>
            </a:r>
            <a:endParaRPr sz="2400"/>
          </a:p>
        </p:txBody>
      </p:sp>
      <p:sp>
        <p:nvSpPr>
          <p:cNvPr id="4" name="Text 2">
            <a:extLst>
              <a:ext uri="{FF2B5EF4-FFF2-40B4-BE49-F238E27FC236}">
                <a16:creationId xmlns:a16="http://schemas.microsoft.com/office/drawing/2014/main" id="{055B8ED4-F723-4883-B027-DB6DEF8555DB}"/>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Four products for different care settings. All names, specifications and prices are fictional teaching data.</a:t>
            </a:r>
            <a:endParaRPr sz="1050"/>
          </a:p>
        </p:txBody>
      </p:sp>
      <p:sp>
        <p:nvSpPr>
          <p:cNvPr id="5" name="Text 3">
            <a:extLst>
              <a:ext uri="{FF2B5EF4-FFF2-40B4-BE49-F238E27FC236}">
                <a16:creationId xmlns:a16="http://schemas.microsoft.com/office/drawing/2014/main" id="{F81E6EB9-B103-4CF5-BEE5-593735608010}"/>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02</a:t>
            </a:r>
            <a:endParaRPr sz="750"/>
          </a:p>
        </p:txBody>
      </p:sp>
      <p:sp>
        <p:nvSpPr>
          <p:cNvPr id="6" name="Text 4">
            <a:extLst>
              <a:ext uri="{FF2B5EF4-FFF2-40B4-BE49-F238E27FC236}">
                <a16:creationId xmlns:a16="http://schemas.microsoft.com/office/drawing/2014/main" id="{A0D85311-CB25-435E-9B02-02F5415F8973}"/>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graphicFrame>
        <p:nvGraphicFramePr>
          <p:cNvPr id="16" name="Table 0"/>
          <p:cNvGraphicFramePr/>
          <p:nvPr/>
        </p:nvGraphicFramePr>
        <p:xfrm>
          <a:off x="502920" y="1234440"/>
          <a:ext cx="11155680" cy="2225040"/>
        </p:xfrm>
        <a:graphic>
          <a:graphicData uri="http://schemas.openxmlformats.org/drawingml/2006/table">
            <a:tbl>
              <a:tblPr/>
              <a:tblGrid>
                <a:gridCol w="10058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3474720">
                  <a:extLst>
                    <a:ext uri="{9D8B030D-6E8A-4147-A177-3AD203B41FA5}">
                      <a16:colId xmlns:a16="http://schemas.microsoft.com/office/drawing/2014/main" val="20006"/>
                    </a:ext>
                  </a:extLst>
                </a:gridCol>
              </a:tblGrid>
              <a:tr h="438912">
                <a:tc>
                  <a:txBody>
                    <a:bodyPr/>
                    <a:lstStyle/>
                    <a:p>
                      <a:pPr marL="0" indent="0" algn="ctr">
                        <a:buNone/>
                      </a:pPr>
                      <a:r>
                        <a:rPr sz="1000" b="1">
                          <a:solidFill>
                            <a:srgbClr val="FFFFFF"/>
                          </a:solidFill>
                          <a:latin typeface="Microsoft JhengHei"/>
                          <a:ea typeface="Microsoft JhengHei"/>
                          <a:cs typeface="Microsoft JhengHei"/>
                        </a:rPr>
                        <a:t>Product code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Product name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Category</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Dosage form</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Standard unit price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Shelf life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1000" b="1">
                          <a:solidFill>
                            <a:srgbClr val="FFFFFF"/>
                          </a:solidFill>
                          <a:latin typeface="Microsoft JhengHei"/>
                          <a:ea typeface="Microsoft JhengHei"/>
                          <a:cs typeface="Microsoft JhengHei"/>
                        </a:rPr>
                        <a:t>Core positioning</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1000">
                          <a:solidFill>
                            <a:srgbClr val="23323D"/>
                          </a:solidFill>
                          <a:latin typeface="Microsoft JhengHei"/>
                          <a:ea typeface="Microsoft JhengHei"/>
                          <a:cs typeface="Microsoft JhengHei"/>
                        </a:rPr>
                        <a:t>P1001</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Yaoheng Injection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Neurology</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Injection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NT$240,000 / box</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2 years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Cold-chain tracing and clinical handover</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1000">
                          <a:solidFill>
                            <a:srgbClr val="23323D"/>
                          </a:solidFill>
                          <a:latin typeface="Microsoft JhengHei"/>
                          <a:ea typeface="Microsoft JhengHei"/>
                          <a:cs typeface="Microsoft JhengHei"/>
                        </a:rPr>
                        <a:t>P2001</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Anbo Lyophilized Injection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Oncology</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Lyophilized injection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NT$700 / vial</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3 years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Strength selection and batch control</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sz="1000">
                          <a:solidFill>
                            <a:srgbClr val="23323D"/>
                          </a:solidFill>
                          <a:latin typeface="Microsoft JhengHei"/>
                          <a:ea typeface="Microsoft JhengHei"/>
                          <a:cs typeface="Microsoft JhengHei"/>
                        </a:rPr>
                        <a:t>P3001</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Tonghu Oral Solution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Pediatrics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Oral solution</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NT$180 / bottle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2 years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Dose understanding and home use</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sz="1000">
                          <a:solidFill>
                            <a:srgbClr val="23323D"/>
                          </a:solidFill>
                          <a:latin typeface="Microsoft JhengHei"/>
                          <a:ea typeface="Microsoft JhengHei"/>
                          <a:cs typeface="Microsoft JhengHei"/>
                        </a:rPr>
                        <a:t>P4001</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Wenmian Tablets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Immunology</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Tablets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NT$1,300 / box</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2 years</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1000">
                          <a:solidFill>
                            <a:srgbClr val="23323D"/>
                          </a:solidFill>
                          <a:latin typeface="Microsoft JhengHei"/>
                          <a:ea typeface="Microsoft JhengHei"/>
                          <a:cs typeface="Microsoft JhengHei"/>
                        </a:rPr>
                        <a:t>Regular dosing and medication tracking</a:t>
                      </a:r>
                      <a:endParaRPr sz="100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Text 5">
            <a:extLst>
              <a:ext uri="{FF2B5EF4-FFF2-40B4-BE49-F238E27FC236}">
                <a16:creationId xmlns:a16="http://schemas.microsoft.com/office/drawing/2014/main" id="{866D7D86-F153-47AB-9896-74F32049442C}"/>
              </a:ext>
            </a:extLst>
          </p:cNvPr>
          <p:cNvSpPr>
            <a:spLocks noGrp="1"/>
          </p:cNvSpPr>
          <p:nvPr/>
        </p:nvSpPr>
        <p:spPr>
          <a:xfrm>
            <a:off x="594360" y="4617720"/>
            <a:ext cx="1463040" cy="228600"/>
          </a:xfrm>
          <a:prstGeom prst="rect">
            <a:avLst/>
          </a:prstGeom>
          <a:noFill/>
        </p:spPr>
        <p:txBody>
          <a:bodyPr wrap="square" lIns="0" tIns="0" rIns="0" bIns="0" anchor="ctr"/>
          <a:lstStyle/>
          <a:p>
            <a:pPr marL="0" indent="0">
              <a:buNone/>
            </a:pPr>
            <a:r>
              <a:rPr sz="1400" b="1">
                <a:solidFill>
                  <a:srgbClr val="16898B"/>
                </a:solidFill>
              </a:rPr>
              <a:t>Proposal Focus</a:t>
            </a:r>
            <a:endParaRPr sz="1400"/>
          </a:p>
        </p:txBody>
      </p:sp>
      <p:sp>
        <p:nvSpPr>
          <p:cNvPr id="9" name="Text 6">
            <a:extLst>
              <a:ext uri="{FF2B5EF4-FFF2-40B4-BE49-F238E27FC236}">
                <a16:creationId xmlns:a16="http://schemas.microsoft.com/office/drawing/2014/main" id="{6A092496-72CF-4FF9-B912-B8CC1F5F0EA0}"/>
              </a:ext>
            </a:extLst>
          </p:cNvPr>
          <p:cNvSpPr>
            <a:spLocks noGrp="1"/>
          </p:cNvSpPr>
          <p:nvPr/>
        </p:nvSpPr>
        <p:spPr>
          <a:xfrm>
            <a:off x="594360" y="5010912"/>
            <a:ext cx="10698480" cy="621792"/>
          </a:xfrm>
          <a:prstGeom prst="rect">
            <a:avLst/>
          </a:prstGeom>
          <a:noFill/>
        </p:spPr>
        <p:txBody>
          <a:bodyPr wrap="square" lIns="0" tIns="0" rIns="0" bIns="0" anchor="ctr"/>
          <a:lstStyle/>
          <a:p>
            <a:pPr marL="0" indent="0">
              <a:buNone/>
            </a:pPr>
            <a:r>
              <a:rPr sz="1800" b="1">
                <a:solidFill>
                  <a:srgbClr val="102F46"/>
                </a:solidFill>
              </a:rPr>
              <a:t>Happy Group presents product information, storage conditions and implementation steps in a consistent format so Chenggong Medical Institution can assess care settings and management needs.</a:t>
            </a:r>
            <a:endParaRPr sz="1800"/>
          </a:p>
        </p:txBody>
      </p:sp>
    </p:spTree>
    <p:extLst>
      <p:ext uri="{BB962C8B-B14F-4D97-AF65-F5344CB8AC3E}">
        <p14:creationId xmlns:p14="http://schemas.microsoft.com/office/powerpoint/2010/main" val="1838834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CEC8464-168F-4183-A802-6BA7226CC970}"/>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CC4C4A83-DBC2-453C-AF2B-A5BCE9A96B65}"/>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Product Positioning and Institutional Needs</a:t>
            </a:r>
            <a:endParaRPr sz="2400"/>
          </a:p>
        </p:txBody>
      </p:sp>
      <p:sp>
        <p:nvSpPr>
          <p:cNvPr id="4" name="Text 2">
            <a:extLst>
              <a:ext uri="{FF2B5EF4-FFF2-40B4-BE49-F238E27FC236}">
                <a16:creationId xmlns:a16="http://schemas.microsoft.com/office/drawing/2014/main" id="{B845DADC-B045-46E0-9D11-1C1D7CD8C1EA}"/>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Link product features to institutional workflows for a clear, actionable implementation assessment.</a:t>
            </a:r>
            <a:endParaRPr sz="1050"/>
          </a:p>
        </p:txBody>
      </p:sp>
      <p:sp>
        <p:nvSpPr>
          <p:cNvPr id="5" name="Text 3">
            <a:extLst>
              <a:ext uri="{FF2B5EF4-FFF2-40B4-BE49-F238E27FC236}">
                <a16:creationId xmlns:a16="http://schemas.microsoft.com/office/drawing/2014/main" id="{860146D3-ACA6-4763-8E6E-C085A00DCAB4}"/>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03</a:t>
            </a:r>
            <a:endParaRPr sz="750"/>
          </a:p>
        </p:txBody>
      </p:sp>
      <p:sp>
        <p:nvSpPr>
          <p:cNvPr id="6" name="Text 4">
            <a:extLst>
              <a:ext uri="{FF2B5EF4-FFF2-40B4-BE49-F238E27FC236}">
                <a16:creationId xmlns:a16="http://schemas.microsoft.com/office/drawing/2014/main" id="{661B9472-B332-40CD-9CBF-BCA7CEA4CDB1}"/>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sp>
        <p:nvSpPr>
          <p:cNvPr id="7" name="Text 5">
            <a:extLst>
              <a:ext uri="{FF2B5EF4-FFF2-40B4-BE49-F238E27FC236}">
                <a16:creationId xmlns:a16="http://schemas.microsoft.com/office/drawing/2014/main" id="{BED1D3A9-5DFF-4FE7-A21E-B4A5FA08C4B6}"/>
              </a:ext>
            </a:extLst>
          </p:cNvPr>
          <p:cNvSpPr>
            <a:spLocks noGrp="1"/>
          </p:cNvSpPr>
          <p:nvPr/>
        </p:nvSpPr>
        <p:spPr>
          <a:xfrm>
            <a:off x="594360" y="1234440"/>
            <a:ext cx="2194560" cy="228600"/>
          </a:xfrm>
          <a:prstGeom prst="rect">
            <a:avLst/>
          </a:prstGeom>
          <a:noFill/>
        </p:spPr>
        <p:txBody>
          <a:bodyPr wrap="square" lIns="0" tIns="0" rIns="0" bIns="0" anchor="ctr"/>
          <a:lstStyle/>
          <a:p>
            <a:pPr marL="0" indent="0">
              <a:buNone/>
            </a:pPr>
            <a:r>
              <a:rPr sz="1200" b="1" spc="100">
                <a:solidFill>
                  <a:srgbClr val="16898B"/>
                </a:solidFill>
              </a:rPr>
              <a:t>Partnership Perspective</a:t>
            </a:r>
            <a:endParaRPr sz="1200"/>
          </a:p>
        </p:txBody>
      </p:sp>
      <p:sp>
        <p:nvSpPr>
          <p:cNvPr id="8" name="Text 6">
            <a:extLst>
              <a:ext uri="{FF2B5EF4-FFF2-40B4-BE49-F238E27FC236}">
                <a16:creationId xmlns:a16="http://schemas.microsoft.com/office/drawing/2014/main" id="{F046F264-39B9-4E87-A734-AA18AD8ACF57}"/>
              </a:ext>
            </a:extLst>
          </p:cNvPr>
          <p:cNvSpPr>
            <a:spLocks noGrp="1"/>
          </p:cNvSpPr>
          <p:nvPr/>
        </p:nvSpPr>
        <p:spPr>
          <a:xfrm>
            <a:off x="594360" y="1581912"/>
            <a:ext cx="5669280" cy="658368"/>
          </a:xfrm>
          <a:prstGeom prst="rect">
            <a:avLst/>
          </a:prstGeom>
          <a:noFill/>
        </p:spPr>
        <p:txBody>
          <a:bodyPr wrap="square" lIns="0" tIns="0" rIns="0" bIns="0" anchor="ctr"/>
          <a:lstStyle/>
          <a:p>
            <a:pPr marL="0" indent="0">
              <a:buNone/>
            </a:pPr>
            <a:r>
              <a:rPr sz="2300" b="1">
                <a:solidFill>
                  <a:srgbClr val="102F46"/>
                </a:solidFill>
              </a:rPr>
              <a:t>From Product Specifications to Care Workflows</a:t>
            </a:r>
            <a:endParaRPr sz="2300"/>
          </a:p>
        </p:txBody>
      </p:sp>
      <p:sp>
        <p:nvSpPr>
          <p:cNvPr id="9" name="Text 7">
            <a:extLst>
              <a:ext uri="{FF2B5EF4-FFF2-40B4-BE49-F238E27FC236}">
                <a16:creationId xmlns:a16="http://schemas.microsoft.com/office/drawing/2014/main" id="{C33C6018-8FA2-4279-B40D-F9FC11E75451}"/>
              </a:ext>
            </a:extLst>
          </p:cNvPr>
          <p:cNvSpPr>
            <a:spLocks noGrp="1"/>
          </p:cNvSpPr>
          <p:nvPr/>
        </p:nvSpPr>
        <p:spPr>
          <a:xfrm>
            <a:off x="594360" y="2377440"/>
            <a:ext cx="5669280" cy="1234440"/>
          </a:xfrm>
          <a:prstGeom prst="rect">
            <a:avLst/>
          </a:prstGeom>
          <a:noFill/>
        </p:spPr>
        <p:txBody>
          <a:bodyPr wrap="square" lIns="0" tIns="0" rIns="0" bIns="0" anchor="ctr"/>
          <a:lstStyle/>
          <a:p>
            <a:pPr marL="0" indent="0">
              <a:buNone/>
            </a:pPr>
            <a:r>
              <a:rPr sz="1450">
                <a:solidFill>
                  <a:srgbClr val="23323D"/>
                </a:solidFill>
              </a:rPr>
              <a:t>Alongside dosage form and price, Chenggong Medical Institution needs to understand storage, staff training, record ownership and patient communication. Happy Group recommends reviewing implementation requirements across care settings, workflows and documents.</a:t>
            </a:r>
            <a:endParaRPr sz="1450"/>
          </a:p>
        </p:txBody>
      </p:sp>
      <p:graphicFrame>
        <p:nvGraphicFramePr>
          <p:cNvPr id="21" name="Table 0"/>
          <p:cNvGraphicFramePr/>
          <p:nvPr/>
        </p:nvGraphicFramePr>
        <p:xfrm>
          <a:off x="6537960" y="1234440"/>
          <a:ext cx="5074920" cy="2255520"/>
        </p:xfrm>
        <a:graphic>
          <a:graphicData uri="http://schemas.openxmlformats.org/drawingml/2006/table">
            <a:tbl>
              <a:tblPr/>
              <a:tblGrid>
                <a:gridCol w="1234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38912">
                <a:tc>
                  <a:txBody>
                    <a:bodyPr/>
                    <a:lstStyle/>
                    <a:p>
                      <a:pPr marL="0" indent="0" algn="ctr">
                        <a:buNone/>
                      </a:pPr>
                      <a:r>
                        <a:rPr sz="950" b="1">
                          <a:solidFill>
                            <a:srgbClr val="FFFFFF"/>
                          </a:solidFill>
                          <a:latin typeface="Microsoft JhengHei"/>
                          <a:ea typeface="Microsoft JhengHei"/>
                          <a:cs typeface="Microsoft JhengHei"/>
                        </a:rPr>
                        <a:t>Product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Primary setting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Institutional priorities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950" b="1">
                          <a:solidFill>
                            <a:srgbClr val="102F46"/>
                          </a:solidFill>
                          <a:latin typeface="Microsoft JhengHei"/>
                          <a:ea typeface="Microsoft JhengHei"/>
                          <a:cs typeface="Microsoft JhengHei"/>
                        </a:rPr>
                        <a:t>Yaoheng Injection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In-hospital injection and cold-chain handover</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Temperature logs, batch tracing and backup stock</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950" b="1">
                          <a:solidFill>
                            <a:srgbClr val="102F46"/>
                          </a:solidFill>
                          <a:latin typeface="Microsoft JhengHei"/>
                          <a:ea typeface="Microsoft JhengHei"/>
                          <a:cs typeface="Microsoft JhengHei"/>
                        </a:rPr>
                        <a:t>Anbo Lyophilized Injection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Oncology preparation and inventory</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Strength selection, batch control and reorder points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sz="950" b="1">
                          <a:solidFill>
                            <a:srgbClr val="102F46"/>
                          </a:solidFill>
                          <a:latin typeface="Microsoft JhengHei"/>
                          <a:ea typeface="Microsoft JhengHei"/>
                          <a:cs typeface="Microsoft JhengHei"/>
                        </a:rPr>
                        <a:t>Tonghu Oral Solution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Pediatric outpatient and home use</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Dose understanding, opening dates and caregiver use</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sz="950" b="1">
                          <a:solidFill>
                            <a:srgbClr val="102F46"/>
                          </a:solidFill>
                          <a:latin typeface="Microsoft JhengHei"/>
                          <a:ea typeface="Microsoft JhengHei"/>
                          <a:cs typeface="Microsoft JhengHei"/>
                        </a:rPr>
                        <a:t>Wenmian Tablets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Chronic immunology follow-up</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Dosing logs, visit reminders and budget planning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 name="Text 8">
            <a:extLst>
              <a:ext uri="{FF2B5EF4-FFF2-40B4-BE49-F238E27FC236}">
                <a16:creationId xmlns:a16="http://schemas.microsoft.com/office/drawing/2014/main" id="{0EE44899-3A7F-426F-A56A-ED89C3817F4C}"/>
              </a:ext>
            </a:extLst>
          </p:cNvPr>
          <p:cNvSpPr>
            <a:spLocks noGrp="1"/>
          </p:cNvSpPr>
          <p:nvPr/>
        </p:nvSpPr>
        <p:spPr>
          <a:xfrm>
            <a:off x="6537960" y="4846320"/>
            <a:ext cx="4983480" cy="594360"/>
          </a:xfrm>
          <a:prstGeom prst="rect">
            <a:avLst/>
          </a:prstGeom>
          <a:noFill/>
        </p:spPr>
        <p:txBody>
          <a:bodyPr wrap="square" lIns="0" tIns="0" rIns="0" bIns="0" anchor="ctr"/>
          <a:lstStyle/>
          <a:p>
            <a:pPr marL="0" indent="0">
              <a:buNone/>
            </a:pPr>
            <a:r>
              <a:rPr sz="1800" b="1">
                <a:solidFill>
                  <a:srgbClr val="16898B"/>
                </a:solidFill>
              </a:rPr>
              <a:t>Shared goal: close information gaps and make product management and instructions more consistent.</a:t>
            </a:r>
            <a:endParaRPr sz="1800"/>
          </a:p>
        </p:txBody>
      </p:sp>
    </p:spTree>
    <p:extLst>
      <p:ext uri="{BB962C8B-B14F-4D97-AF65-F5344CB8AC3E}">
        <p14:creationId xmlns:p14="http://schemas.microsoft.com/office/powerpoint/2010/main" val="1669851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959AB1F-E23D-4EA9-9337-791B6A58C4A2}"/>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CC19996D-244E-4812-9E55-DCB185D0CBE8}"/>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Yaoheng Injection P1001</a:t>
            </a:r>
            <a:endParaRPr sz="2400"/>
          </a:p>
        </p:txBody>
      </p:sp>
      <p:sp>
        <p:nvSpPr>
          <p:cNvPr id="4" name="Text 2">
            <a:extLst>
              <a:ext uri="{FF2B5EF4-FFF2-40B4-BE49-F238E27FC236}">
                <a16:creationId xmlns:a16="http://schemas.microsoft.com/office/drawing/2014/main" id="{43D18FD4-D02F-4843-8A47-39B7AD9256A1}"/>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Neurology | Injection | Fictional product</a:t>
            </a:r>
            <a:endParaRPr sz="1050"/>
          </a:p>
        </p:txBody>
      </p:sp>
      <p:sp>
        <p:nvSpPr>
          <p:cNvPr id="5" name="Text 3">
            <a:extLst>
              <a:ext uri="{FF2B5EF4-FFF2-40B4-BE49-F238E27FC236}">
                <a16:creationId xmlns:a16="http://schemas.microsoft.com/office/drawing/2014/main" id="{9381BB1F-4C29-4226-B427-7B57DAF24345}"/>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04</a:t>
            </a:r>
            <a:endParaRPr sz="750"/>
          </a:p>
        </p:txBody>
      </p:sp>
      <p:sp>
        <p:nvSpPr>
          <p:cNvPr id="6" name="Text 4">
            <a:extLst>
              <a:ext uri="{FF2B5EF4-FFF2-40B4-BE49-F238E27FC236}">
                <a16:creationId xmlns:a16="http://schemas.microsoft.com/office/drawing/2014/main" id="{02E5958F-5DF3-4B9F-9177-FE62A516FB09}"/>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pic>
        <p:nvPicPr>
          <p:cNvPr id="24" name="Image 0"/>
          <p:cNvPicPr>
            <a:picLocks noChangeAspect="1"/>
          </p:cNvPicPr>
          <p:nvPr/>
        </p:nvPicPr>
        <p:blipFill>
          <a:blip r:embed="rId3"/>
          <a:stretch>
            <a:fillRect/>
          </a:stretch>
        </p:blipFill>
        <p:spPr>
          <a:xfrm>
            <a:off x="8458200" y="1170432"/>
            <a:ext cx="2880360" cy="2788920"/>
          </a:xfrm>
          <a:prstGeom prst="rect">
            <a:avLst/>
          </a:prstGeom>
        </p:spPr>
      </p:pic>
      <p:sp>
        <p:nvSpPr>
          <p:cNvPr id="8" name="Text 5">
            <a:extLst>
              <a:ext uri="{FF2B5EF4-FFF2-40B4-BE49-F238E27FC236}">
                <a16:creationId xmlns:a16="http://schemas.microsoft.com/office/drawing/2014/main" id="{D8D3C901-69BC-4638-84EA-F7426A0A9025}"/>
              </a:ext>
            </a:extLst>
          </p:cNvPr>
          <p:cNvSpPr>
            <a:spLocks noGrp="1"/>
          </p:cNvSpPr>
          <p:nvPr/>
        </p:nvSpPr>
        <p:spPr>
          <a:xfrm>
            <a:off x="594360" y="1170432"/>
            <a:ext cx="1828800" cy="201168"/>
          </a:xfrm>
          <a:prstGeom prst="rect">
            <a:avLst/>
          </a:prstGeom>
          <a:noFill/>
        </p:spPr>
        <p:txBody>
          <a:bodyPr wrap="square" lIns="0" tIns="0" rIns="0" bIns="0" anchor="ctr"/>
          <a:lstStyle/>
          <a:p>
            <a:pPr marL="0" indent="0">
              <a:buNone/>
            </a:pPr>
            <a:r>
              <a:rPr sz="1150" b="1">
                <a:solidFill>
                  <a:srgbClr val="16898B"/>
                </a:solidFill>
              </a:rPr>
              <a:t>Functional Positioning</a:t>
            </a:r>
            <a:endParaRPr sz="1150"/>
          </a:p>
        </p:txBody>
      </p:sp>
      <p:sp>
        <p:nvSpPr>
          <p:cNvPr id="9" name="Text 6">
            <a:extLst>
              <a:ext uri="{FF2B5EF4-FFF2-40B4-BE49-F238E27FC236}">
                <a16:creationId xmlns:a16="http://schemas.microsoft.com/office/drawing/2014/main" id="{DE5FAF9B-7DEE-4557-BCC3-13A89B53164B}"/>
              </a:ext>
            </a:extLst>
          </p:cNvPr>
          <p:cNvSpPr>
            <a:spLocks noGrp="1"/>
          </p:cNvSpPr>
          <p:nvPr/>
        </p:nvSpPr>
        <p:spPr>
          <a:xfrm>
            <a:off x="594360" y="1481328"/>
            <a:ext cx="7315200" cy="502920"/>
          </a:xfrm>
          <a:prstGeom prst="rect">
            <a:avLst/>
          </a:prstGeom>
          <a:noFill/>
        </p:spPr>
        <p:txBody>
          <a:bodyPr wrap="square" lIns="0" tIns="0" rIns="0" bIns="0" anchor="ctr"/>
          <a:lstStyle/>
          <a:p>
            <a:pPr marL="0" indent="0">
              <a:buNone/>
            </a:pPr>
            <a:r>
              <a:rPr sz="2200" b="1">
                <a:solidFill>
                  <a:srgbClr val="102F46"/>
                </a:solidFill>
              </a:rPr>
              <a:t>Injection for Acute Neurological Support in Hospital</a:t>
            </a:r>
            <a:endParaRPr sz="2200"/>
          </a:p>
        </p:txBody>
      </p:sp>
      <p:sp>
        <p:nvSpPr>
          <p:cNvPr id="10" name="Text 7">
            <a:extLst>
              <a:ext uri="{FF2B5EF4-FFF2-40B4-BE49-F238E27FC236}">
                <a16:creationId xmlns:a16="http://schemas.microsoft.com/office/drawing/2014/main" id="{B67E54AD-300C-4B2F-9462-41E6CA21D319}"/>
              </a:ext>
            </a:extLst>
          </p:cNvPr>
          <p:cNvSpPr>
            <a:spLocks noGrp="1"/>
          </p:cNvSpPr>
          <p:nvPr/>
        </p:nvSpPr>
        <p:spPr>
          <a:xfrm>
            <a:off x="594360" y="2103120"/>
            <a:ext cx="7315200" cy="941832"/>
          </a:xfrm>
          <a:prstGeom prst="rect">
            <a:avLst/>
          </a:prstGeom>
          <a:noFill/>
        </p:spPr>
        <p:txBody>
          <a:bodyPr wrap="square" lIns="0" tIns="0" rIns="0" bIns="0" anchor="ctr"/>
          <a:lstStyle/>
          <a:p>
            <a:pPr marL="0" indent="0">
              <a:buNone/>
            </a:pPr>
            <a:r>
              <a:rPr sz="1320">
                <a:solidFill>
                  <a:srgbClr val="23323D"/>
                </a:solidFill>
              </a:rPr>
              <a:t>Yaoheng Injection is a fictional neurology support product for short-term hospital use. Its imagined mechanism regulates overactive nerve signals, giving clinical teams an option after assessing acute symptoms. Single-use packaging helps nurses check batch numbers and use status.</a:t>
            </a:r>
            <a:endParaRPr sz="1320"/>
          </a:p>
        </p:txBody>
      </p:sp>
      <p:sp>
        <p:nvSpPr>
          <p:cNvPr id="11" name="Text 8">
            <a:extLst>
              <a:ext uri="{FF2B5EF4-FFF2-40B4-BE49-F238E27FC236}">
                <a16:creationId xmlns:a16="http://schemas.microsoft.com/office/drawing/2014/main" id="{E3F4298F-B898-453A-910C-5930B050748D}"/>
              </a:ext>
            </a:extLst>
          </p:cNvPr>
          <p:cNvSpPr>
            <a:spLocks noGrp="1"/>
          </p:cNvSpPr>
          <p:nvPr/>
        </p:nvSpPr>
        <p:spPr>
          <a:xfrm>
            <a:off x="594360" y="3218688"/>
            <a:ext cx="2103120" cy="219456"/>
          </a:xfrm>
          <a:prstGeom prst="rect">
            <a:avLst/>
          </a:prstGeom>
          <a:noFill/>
        </p:spPr>
        <p:txBody>
          <a:bodyPr wrap="square" lIns="0" tIns="0" rIns="0" bIns="0" anchor="ctr"/>
          <a:lstStyle/>
          <a:p>
            <a:pPr marL="0" indent="0">
              <a:buNone/>
            </a:pPr>
            <a:r>
              <a:rPr sz="1300" b="1">
                <a:solidFill>
                  <a:srgbClr val="16898B"/>
                </a:solidFill>
              </a:rPr>
              <a:t>Uses and Care Settings</a:t>
            </a:r>
            <a:endParaRPr sz="1300"/>
          </a:p>
        </p:txBody>
      </p:sp>
      <p:sp>
        <p:nvSpPr>
          <p:cNvPr id="12" name="Text 9">
            <a:extLst>
              <a:ext uri="{FF2B5EF4-FFF2-40B4-BE49-F238E27FC236}">
                <a16:creationId xmlns:a16="http://schemas.microsoft.com/office/drawing/2014/main" id="{058D02AC-39C0-40E5-AD79-7FAC0C3230DE}"/>
              </a:ext>
            </a:extLst>
          </p:cNvPr>
          <p:cNvSpPr>
            <a:spLocks noGrp="1"/>
          </p:cNvSpPr>
          <p:nvPr/>
        </p:nvSpPr>
        <p:spPr>
          <a:xfrm>
            <a:off x="594360" y="3547872"/>
            <a:ext cx="7315200" cy="914400"/>
          </a:xfrm>
          <a:prstGeom prst="rect">
            <a:avLst/>
          </a:prstGeom>
          <a:noFill/>
        </p:spPr>
        <p:txBody>
          <a:bodyPr wrap="square" lIns="0" tIns="0" rIns="0" bIns="0" anchor="ctr"/>
          <a:lstStyle/>
          <a:p>
            <a:pPr marL="0" indent="0">
              <a:buNone/>
            </a:pPr>
            <a:r>
              <a:rPr sz="1280">
                <a:solidFill>
                  <a:srgbClr val="23323D"/>
                </a:solidFill>
              </a:rPr>
              <a:t>Use setting: hospital care with physician assessment, vital-sign monitoring and injection support. The product may be placed in neurology wards, emergency observation areas or day-treatment units. Eligibility and timing follow the fictional institutional protocol.</a:t>
            </a:r>
            <a:endParaRPr sz="1280"/>
          </a:p>
        </p:txBody>
      </p:sp>
      <p:sp>
        <p:nvSpPr>
          <p:cNvPr id="13" name="Text 10">
            <a:extLst>
              <a:ext uri="{FF2B5EF4-FFF2-40B4-BE49-F238E27FC236}">
                <a16:creationId xmlns:a16="http://schemas.microsoft.com/office/drawing/2014/main" id="{D7CDAD57-4D2E-41CA-B6B9-22352223176E}"/>
              </a:ext>
            </a:extLst>
          </p:cNvPr>
          <p:cNvSpPr>
            <a:spLocks noGrp="1"/>
          </p:cNvSpPr>
          <p:nvPr/>
        </p:nvSpPr>
        <p:spPr>
          <a:xfrm>
            <a:off x="594360" y="4645152"/>
            <a:ext cx="2468880" cy="219456"/>
          </a:xfrm>
          <a:prstGeom prst="rect">
            <a:avLst/>
          </a:prstGeom>
          <a:noFill/>
        </p:spPr>
        <p:txBody>
          <a:bodyPr wrap="square" lIns="0" tIns="0" rIns="0" bIns="0" anchor="ctr"/>
          <a:lstStyle/>
          <a:p>
            <a:pPr marL="0" indent="0">
              <a:buNone/>
            </a:pPr>
            <a:r>
              <a:rPr sz="1300" b="1">
                <a:solidFill>
                  <a:srgbClr val="A55A38"/>
                </a:solidFill>
              </a:rPr>
              <a:t>Use and Management Precautions</a:t>
            </a:r>
            <a:endParaRPr sz="1300"/>
          </a:p>
        </p:txBody>
      </p:sp>
      <p:sp>
        <p:nvSpPr>
          <p:cNvPr id="14" name="Text 11">
            <a:extLst>
              <a:ext uri="{FF2B5EF4-FFF2-40B4-BE49-F238E27FC236}">
                <a16:creationId xmlns:a16="http://schemas.microsoft.com/office/drawing/2014/main" id="{4AD2FFD2-DCA7-48D4-9C0B-884E1CB999FA}"/>
              </a:ext>
            </a:extLst>
          </p:cNvPr>
          <p:cNvSpPr>
            <a:spLocks noGrp="1"/>
          </p:cNvSpPr>
          <p:nvPr/>
        </p:nvSpPr>
        <p:spPr>
          <a:xfrm>
            <a:off x="594360" y="4965192"/>
            <a:ext cx="7315200" cy="932688"/>
          </a:xfrm>
          <a:prstGeom prst="rect">
            <a:avLst/>
          </a:prstGeom>
          <a:noFill/>
        </p:spPr>
        <p:txBody>
          <a:bodyPr wrap="square" lIns="0" tIns="0" rIns="0" bIns="0" anchor="ctr"/>
          <a:lstStyle/>
          <a:p>
            <a:pPr marL="0" indent="0">
              <a:buNone/>
            </a:pPr>
            <a:r>
              <a:rPr sz="1280">
                <a:solidFill>
                  <a:srgbClr val="23323D"/>
                </a:solidFill>
              </a:rPr>
              <a:t>Precautions: check identity, package integrity and cold-chain records before use. Quarantine damaged packaging, abnormal-looking solution or products exposed to temperatures outside the specified range for pharmacy review. Record the batch, time and observations after use.</a:t>
            </a:r>
            <a:endParaRPr sz="1280"/>
          </a:p>
        </p:txBody>
      </p:sp>
      <p:graphicFrame>
        <p:nvGraphicFramePr>
          <p:cNvPr id="32" name="Table 0"/>
          <p:cNvGraphicFramePr/>
          <p:nvPr/>
        </p:nvGraphicFramePr>
        <p:xfrm>
          <a:off x="8275320" y="4224528"/>
          <a:ext cx="3246120" cy="1316736"/>
        </p:xfrm>
        <a:graphic>
          <a:graphicData uri="http://schemas.openxmlformats.org/drawingml/2006/table">
            <a:tbl>
              <a:tblPr/>
              <a:tblGrid>
                <a:gridCol w="1143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marL="0" indent="0" algn="ctr">
                        <a:buNone/>
                      </a:pPr>
                      <a:r>
                        <a:rPr sz="860" b="1">
                          <a:solidFill>
                            <a:srgbClr val="FFFFFF"/>
                          </a:solidFill>
                          <a:latin typeface="Microsoft JhengHei"/>
                          <a:ea typeface="Microsoft JhengHei"/>
                          <a:cs typeface="Microsoft JhengHei"/>
                        </a:rPr>
                        <a:t>Basic information</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860" b="1">
                          <a:solidFill>
                            <a:srgbClr val="FFFFFF"/>
                          </a:solidFill>
                          <a:latin typeface="Microsoft JhengHei"/>
                          <a:ea typeface="Microsoft JhengHei"/>
                          <a:cs typeface="Microsoft JhengHei"/>
                        </a:rPr>
                        <a:t>Product details</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860" b="1">
                          <a:solidFill>
                            <a:srgbClr val="102F46"/>
                          </a:solidFill>
                          <a:latin typeface="Microsoft JhengHei"/>
                          <a:ea typeface="Microsoft JhengHei"/>
                          <a:cs typeface="Microsoft JhengHei"/>
                        </a:rPr>
                        <a:t>Pack / storage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2 mL / vial, 10 vials / box; refrigerate at 2-8°C</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860" b="1">
                          <a:solidFill>
                            <a:srgbClr val="102F46"/>
                          </a:solidFill>
                          <a:latin typeface="Microsoft JhengHei"/>
                          <a:ea typeface="Microsoft JhengHei"/>
                          <a:cs typeface="Microsoft JhengHei"/>
                        </a:rPr>
                        <a:t>Shelf life / price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2 years; NT$240,000 / box</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6" name="Text 12">
            <a:extLst>
              <a:ext uri="{FF2B5EF4-FFF2-40B4-BE49-F238E27FC236}">
                <a16:creationId xmlns:a16="http://schemas.microsoft.com/office/drawing/2014/main" id="{4D0EC355-176F-4D28-9B76-A9DAED997942}"/>
              </a:ext>
            </a:extLst>
          </p:cNvPr>
          <p:cNvSpPr>
            <a:spLocks noGrp="1"/>
          </p:cNvSpPr>
          <p:nvPr/>
        </p:nvSpPr>
        <p:spPr>
          <a:xfrm>
            <a:off x="8275320" y="5715000"/>
            <a:ext cx="3246120" cy="384048"/>
          </a:xfrm>
          <a:prstGeom prst="rect">
            <a:avLst/>
          </a:prstGeom>
          <a:noFill/>
        </p:spPr>
        <p:txBody>
          <a:bodyPr wrap="square" lIns="0" tIns="0" rIns="0" bIns="0" anchor="ctr"/>
          <a:lstStyle/>
          <a:p>
            <a:pPr marL="0" indent="0">
              <a:buNone/>
            </a:pPr>
            <a:r>
              <a:rPr sz="930" b="1">
                <a:solidFill>
                  <a:srgbClr val="A55A38"/>
                </a:solidFill>
              </a:rPr>
              <a:t>Fictional teaching description. Not for diagnosis, prescribing or actual medication use.</a:t>
            </a:r>
            <a:endParaRPr sz="930"/>
          </a:p>
        </p:txBody>
      </p:sp>
    </p:spTree>
    <p:extLst>
      <p:ext uri="{BB962C8B-B14F-4D97-AF65-F5344CB8AC3E}">
        <p14:creationId xmlns:p14="http://schemas.microsoft.com/office/powerpoint/2010/main" val="1571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CF85FDF-75B4-4312-A18C-37952BA814A8}"/>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0BB30391-8D1B-4812-B3F7-3D8EA0FF5855}"/>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Anbo Lyophilized Injection P2001</a:t>
            </a:r>
            <a:endParaRPr sz="2400"/>
          </a:p>
        </p:txBody>
      </p:sp>
      <p:sp>
        <p:nvSpPr>
          <p:cNvPr id="4" name="Text 2">
            <a:extLst>
              <a:ext uri="{FF2B5EF4-FFF2-40B4-BE49-F238E27FC236}">
                <a16:creationId xmlns:a16="http://schemas.microsoft.com/office/drawing/2014/main" id="{C3A6000B-6FCA-445A-92C2-C24949A64DE0}"/>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Oncology | Lyophilized injection | Fictional product</a:t>
            </a:r>
            <a:endParaRPr sz="1050"/>
          </a:p>
        </p:txBody>
      </p:sp>
      <p:sp>
        <p:nvSpPr>
          <p:cNvPr id="5" name="Text 3">
            <a:extLst>
              <a:ext uri="{FF2B5EF4-FFF2-40B4-BE49-F238E27FC236}">
                <a16:creationId xmlns:a16="http://schemas.microsoft.com/office/drawing/2014/main" id="{A8789775-018E-4B4E-8FD2-9BB9A4630487}"/>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05</a:t>
            </a:r>
            <a:endParaRPr sz="750"/>
          </a:p>
        </p:txBody>
      </p:sp>
      <p:sp>
        <p:nvSpPr>
          <p:cNvPr id="6" name="Text 4">
            <a:extLst>
              <a:ext uri="{FF2B5EF4-FFF2-40B4-BE49-F238E27FC236}">
                <a16:creationId xmlns:a16="http://schemas.microsoft.com/office/drawing/2014/main" id="{5D2E6820-BD7B-4993-8C5C-171935C476EE}"/>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pic>
        <p:nvPicPr>
          <p:cNvPr id="24" name="Image 0"/>
          <p:cNvPicPr>
            <a:picLocks noChangeAspect="1"/>
          </p:cNvPicPr>
          <p:nvPr/>
        </p:nvPicPr>
        <p:blipFill>
          <a:blip r:embed="rId3"/>
          <a:stretch>
            <a:fillRect/>
          </a:stretch>
        </p:blipFill>
        <p:spPr>
          <a:xfrm>
            <a:off x="8458200" y="1170432"/>
            <a:ext cx="2880360" cy="2788920"/>
          </a:xfrm>
          <a:prstGeom prst="rect">
            <a:avLst/>
          </a:prstGeom>
        </p:spPr>
      </p:pic>
      <p:sp>
        <p:nvSpPr>
          <p:cNvPr id="8" name="Text 5">
            <a:extLst>
              <a:ext uri="{FF2B5EF4-FFF2-40B4-BE49-F238E27FC236}">
                <a16:creationId xmlns:a16="http://schemas.microsoft.com/office/drawing/2014/main" id="{7FC3A2EF-BCD9-4FAC-A46D-034C72C1F448}"/>
              </a:ext>
            </a:extLst>
          </p:cNvPr>
          <p:cNvSpPr>
            <a:spLocks noGrp="1"/>
          </p:cNvSpPr>
          <p:nvPr/>
        </p:nvSpPr>
        <p:spPr>
          <a:xfrm>
            <a:off x="594360" y="1170432"/>
            <a:ext cx="1828800" cy="201168"/>
          </a:xfrm>
          <a:prstGeom prst="rect">
            <a:avLst/>
          </a:prstGeom>
          <a:noFill/>
        </p:spPr>
        <p:txBody>
          <a:bodyPr wrap="square" lIns="0" tIns="0" rIns="0" bIns="0" anchor="ctr"/>
          <a:lstStyle/>
          <a:p>
            <a:pPr marL="0" indent="0">
              <a:buNone/>
            </a:pPr>
            <a:r>
              <a:rPr sz="1150" b="1">
                <a:solidFill>
                  <a:srgbClr val="16898B"/>
                </a:solidFill>
              </a:rPr>
              <a:t>Functional Positioning</a:t>
            </a:r>
            <a:endParaRPr sz="1150"/>
          </a:p>
        </p:txBody>
      </p:sp>
      <p:sp>
        <p:nvSpPr>
          <p:cNvPr id="9" name="Text 6">
            <a:extLst>
              <a:ext uri="{FF2B5EF4-FFF2-40B4-BE49-F238E27FC236}">
                <a16:creationId xmlns:a16="http://schemas.microsoft.com/office/drawing/2014/main" id="{E9D2062E-3001-44D9-AE0A-FED0E4EFC0BF}"/>
              </a:ext>
            </a:extLst>
          </p:cNvPr>
          <p:cNvSpPr>
            <a:spLocks noGrp="1"/>
          </p:cNvSpPr>
          <p:nvPr/>
        </p:nvSpPr>
        <p:spPr>
          <a:xfrm>
            <a:off x="594360" y="1481328"/>
            <a:ext cx="7315200" cy="502920"/>
          </a:xfrm>
          <a:prstGeom prst="rect">
            <a:avLst/>
          </a:prstGeom>
          <a:noFill/>
        </p:spPr>
        <p:txBody>
          <a:bodyPr wrap="square" lIns="0" tIns="0" rIns="0" bIns="0" anchor="ctr"/>
          <a:lstStyle/>
          <a:p>
            <a:pPr marL="0" indent="0">
              <a:buNone/>
            </a:pPr>
            <a:r>
              <a:rPr sz="2200" b="1">
                <a:solidFill>
                  <a:srgbClr val="102F46"/>
                </a:solidFill>
              </a:rPr>
              <a:t>Lyophilized Support Product During Oncology Treatment</a:t>
            </a:r>
            <a:endParaRPr sz="2200"/>
          </a:p>
        </p:txBody>
      </p:sp>
      <p:sp>
        <p:nvSpPr>
          <p:cNvPr id="10" name="Text 7">
            <a:extLst>
              <a:ext uri="{FF2B5EF4-FFF2-40B4-BE49-F238E27FC236}">
                <a16:creationId xmlns:a16="http://schemas.microsoft.com/office/drawing/2014/main" id="{2E705DCE-7466-4E27-87ED-B9EB0FEE0583}"/>
              </a:ext>
            </a:extLst>
          </p:cNvPr>
          <p:cNvSpPr>
            <a:spLocks noGrp="1"/>
          </p:cNvSpPr>
          <p:nvPr/>
        </p:nvSpPr>
        <p:spPr>
          <a:xfrm>
            <a:off x="594360" y="2103120"/>
            <a:ext cx="7315200" cy="941832"/>
          </a:xfrm>
          <a:prstGeom prst="rect">
            <a:avLst/>
          </a:prstGeom>
          <a:noFill/>
        </p:spPr>
        <p:txBody>
          <a:bodyPr wrap="square" lIns="0" tIns="0" rIns="0" bIns="0" anchor="ctr"/>
          <a:lstStyle/>
          <a:p>
            <a:pPr marL="0" indent="0">
              <a:buNone/>
            </a:pPr>
            <a:r>
              <a:rPr sz="1320">
                <a:solidFill>
                  <a:srgbClr val="23323D"/>
                </a:solidFill>
              </a:rPr>
              <a:t>Anbo Lyophilized Injection is a fictional supportive product for oncology treatment. Its imagined mechanism helps clinical teams manage specific physiological burdens during therapy. The lyophilized form supports long-term storage, with two strengths for institutional stock planning.</a:t>
            </a:r>
            <a:endParaRPr sz="1320"/>
          </a:p>
        </p:txBody>
      </p:sp>
      <p:sp>
        <p:nvSpPr>
          <p:cNvPr id="11" name="Text 8">
            <a:extLst>
              <a:ext uri="{FF2B5EF4-FFF2-40B4-BE49-F238E27FC236}">
                <a16:creationId xmlns:a16="http://schemas.microsoft.com/office/drawing/2014/main" id="{B8872EEF-B0FA-4C38-A688-FA21FEA3A134}"/>
              </a:ext>
            </a:extLst>
          </p:cNvPr>
          <p:cNvSpPr>
            <a:spLocks noGrp="1"/>
          </p:cNvSpPr>
          <p:nvPr/>
        </p:nvSpPr>
        <p:spPr>
          <a:xfrm>
            <a:off x="594360" y="3218688"/>
            <a:ext cx="2103120" cy="219456"/>
          </a:xfrm>
          <a:prstGeom prst="rect">
            <a:avLst/>
          </a:prstGeom>
          <a:noFill/>
        </p:spPr>
        <p:txBody>
          <a:bodyPr wrap="square" lIns="0" tIns="0" rIns="0" bIns="0" anchor="ctr"/>
          <a:lstStyle/>
          <a:p>
            <a:pPr marL="0" indent="0">
              <a:buNone/>
            </a:pPr>
            <a:r>
              <a:rPr sz="1300" b="1">
                <a:solidFill>
                  <a:srgbClr val="16898B"/>
                </a:solidFill>
              </a:rPr>
              <a:t>Uses and Care Settings</a:t>
            </a:r>
            <a:endParaRPr sz="1300"/>
          </a:p>
        </p:txBody>
      </p:sp>
      <p:sp>
        <p:nvSpPr>
          <p:cNvPr id="12" name="Text 9">
            <a:extLst>
              <a:ext uri="{FF2B5EF4-FFF2-40B4-BE49-F238E27FC236}">
                <a16:creationId xmlns:a16="http://schemas.microsoft.com/office/drawing/2014/main" id="{CC10D888-C2DF-48C5-A698-9080E0DA5238}"/>
              </a:ext>
            </a:extLst>
          </p:cNvPr>
          <p:cNvSpPr>
            <a:spLocks noGrp="1"/>
          </p:cNvSpPr>
          <p:nvPr/>
        </p:nvSpPr>
        <p:spPr>
          <a:xfrm>
            <a:off x="594360" y="3547872"/>
            <a:ext cx="7315200" cy="914400"/>
          </a:xfrm>
          <a:prstGeom prst="rect">
            <a:avLst/>
          </a:prstGeom>
          <a:noFill/>
        </p:spPr>
        <p:txBody>
          <a:bodyPr wrap="square" lIns="0" tIns="0" rIns="0" bIns="0" anchor="ctr"/>
          <a:lstStyle/>
          <a:p>
            <a:pPr marL="0" indent="0">
              <a:buNone/>
            </a:pPr>
            <a:r>
              <a:rPr sz="1280">
                <a:solidFill>
                  <a:srgbClr val="23323D"/>
                </a:solidFill>
              </a:rPr>
              <a:t>Use setting: after an oncologist's assessment, pharmacy staff prepare the product under institutional procedures. The smaller strength suits low-volume use; the larger strength supports centralized preparation. Set safety stock and reorder points using average consumption.</a:t>
            </a:r>
            <a:endParaRPr sz="1280"/>
          </a:p>
        </p:txBody>
      </p:sp>
      <p:sp>
        <p:nvSpPr>
          <p:cNvPr id="13" name="Text 10">
            <a:extLst>
              <a:ext uri="{FF2B5EF4-FFF2-40B4-BE49-F238E27FC236}">
                <a16:creationId xmlns:a16="http://schemas.microsoft.com/office/drawing/2014/main" id="{AAC71CE4-8EA4-4C9C-A580-DA6B9CDD42CA}"/>
              </a:ext>
            </a:extLst>
          </p:cNvPr>
          <p:cNvSpPr>
            <a:spLocks noGrp="1"/>
          </p:cNvSpPr>
          <p:nvPr/>
        </p:nvSpPr>
        <p:spPr>
          <a:xfrm>
            <a:off x="594360" y="4645152"/>
            <a:ext cx="2468880" cy="219456"/>
          </a:xfrm>
          <a:prstGeom prst="rect">
            <a:avLst/>
          </a:prstGeom>
          <a:noFill/>
        </p:spPr>
        <p:txBody>
          <a:bodyPr wrap="square" lIns="0" tIns="0" rIns="0" bIns="0" anchor="ctr"/>
          <a:lstStyle/>
          <a:p>
            <a:pPr marL="0" indent="0">
              <a:buNone/>
            </a:pPr>
            <a:r>
              <a:rPr sz="1300" b="1">
                <a:solidFill>
                  <a:srgbClr val="A55A38"/>
                </a:solidFill>
              </a:rPr>
              <a:t>Use and Management Precautions</a:t>
            </a:r>
            <a:endParaRPr sz="1300"/>
          </a:p>
        </p:txBody>
      </p:sp>
      <p:sp>
        <p:nvSpPr>
          <p:cNvPr id="14" name="Text 11">
            <a:extLst>
              <a:ext uri="{FF2B5EF4-FFF2-40B4-BE49-F238E27FC236}">
                <a16:creationId xmlns:a16="http://schemas.microsoft.com/office/drawing/2014/main" id="{915B4C99-A44E-4846-A76F-82E4E4259674}"/>
              </a:ext>
            </a:extLst>
          </p:cNvPr>
          <p:cNvSpPr>
            <a:spLocks noGrp="1"/>
          </p:cNvSpPr>
          <p:nvPr/>
        </p:nvSpPr>
        <p:spPr>
          <a:xfrm>
            <a:off x="594360" y="4965192"/>
            <a:ext cx="7315200" cy="932688"/>
          </a:xfrm>
          <a:prstGeom prst="rect">
            <a:avLst/>
          </a:prstGeom>
          <a:noFill/>
        </p:spPr>
        <p:txBody>
          <a:bodyPr wrap="square" lIns="0" tIns="0" rIns="0" bIns="0" anchor="ctr"/>
          <a:lstStyle/>
          <a:p>
            <a:pPr marL="0" indent="0">
              <a:buNone/>
            </a:pPr>
            <a:r>
              <a:rPr sz="1280">
                <a:solidFill>
                  <a:srgbClr val="23323D"/>
                </a:solidFill>
              </a:rPr>
              <a:t>Precautions: check the vial, expiry and batch before preparation. Reconstitute and inspect appearance under the fictional procedure. Store strengths separately to avoid selection errors. Do not independently retain unused contents or mix them with other batches.</a:t>
            </a:r>
            <a:endParaRPr sz="1280"/>
          </a:p>
        </p:txBody>
      </p:sp>
      <p:graphicFrame>
        <p:nvGraphicFramePr>
          <p:cNvPr id="32" name="Table 0"/>
          <p:cNvGraphicFramePr/>
          <p:nvPr/>
        </p:nvGraphicFramePr>
        <p:xfrm>
          <a:off x="8275320" y="4224528"/>
          <a:ext cx="3246120" cy="1316736"/>
        </p:xfrm>
        <a:graphic>
          <a:graphicData uri="http://schemas.openxmlformats.org/drawingml/2006/table">
            <a:tbl>
              <a:tblPr/>
              <a:tblGrid>
                <a:gridCol w="1143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marL="0" indent="0" algn="ctr">
                        <a:buNone/>
                      </a:pPr>
                      <a:r>
                        <a:rPr sz="860" b="1">
                          <a:solidFill>
                            <a:srgbClr val="FFFFFF"/>
                          </a:solidFill>
                          <a:latin typeface="Microsoft JhengHei"/>
                          <a:ea typeface="Microsoft JhengHei"/>
                          <a:cs typeface="Microsoft JhengHei"/>
                        </a:rPr>
                        <a:t>Basic information</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860" b="1">
                          <a:solidFill>
                            <a:srgbClr val="FFFFFF"/>
                          </a:solidFill>
                          <a:latin typeface="Microsoft JhengHei"/>
                          <a:ea typeface="Microsoft JhengHei"/>
                          <a:cs typeface="Microsoft JhengHei"/>
                        </a:rPr>
                        <a:t>Product details</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860" b="1">
                          <a:solidFill>
                            <a:srgbClr val="102F46"/>
                          </a:solidFill>
                          <a:latin typeface="Microsoft JhengHei"/>
                          <a:ea typeface="Microsoft JhengHei"/>
                          <a:cs typeface="Microsoft JhengHei"/>
                        </a:rPr>
                        <a:t>Pack / storage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50 or 100 mg / vial, 5 vials / box; room temperature, protect from light</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860" b="1">
                          <a:solidFill>
                            <a:srgbClr val="102F46"/>
                          </a:solidFill>
                          <a:latin typeface="Microsoft JhengHei"/>
                          <a:ea typeface="Microsoft JhengHei"/>
                          <a:cs typeface="Microsoft JhengHei"/>
                        </a:rPr>
                        <a:t>Shelf life / price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3 years; NT$700 / vial</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6" name="Text 12">
            <a:extLst>
              <a:ext uri="{FF2B5EF4-FFF2-40B4-BE49-F238E27FC236}">
                <a16:creationId xmlns:a16="http://schemas.microsoft.com/office/drawing/2014/main" id="{30079573-3C8C-4688-A949-751CD5064A5E}"/>
              </a:ext>
            </a:extLst>
          </p:cNvPr>
          <p:cNvSpPr>
            <a:spLocks noGrp="1"/>
          </p:cNvSpPr>
          <p:nvPr/>
        </p:nvSpPr>
        <p:spPr>
          <a:xfrm>
            <a:off x="8275320" y="5715000"/>
            <a:ext cx="3246120" cy="384048"/>
          </a:xfrm>
          <a:prstGeom prst="rect">
            <a:avLst/>
          </a:prstGeom>
          <a:noFill/>
        </p:spPr>
        <p:txBody>
          <a:bodyPr wrap="square" lIns="0" tIns="0" rIns="0" bIns="0" anchor="ctr"/>
          <a:lstStyle/>
          <a:p>
            <a:pPr marL="0" indent="0">
              <a:buNone/>
            </a:pPr>
            <a:r>
              <a:rPr sz="930" b="1">
                <a:solidFill>
                  <a:srgbClr val="A55A38"/>
                </a:solidFill>
              </a:rPr>
              <a:t>Fictional teaching description. Not for diagnosis, prescribing or actual medication use.</a:t>
            </a:r>
            <a:endParaRPr sz="930"/>
          </a:p>
        </p:txBody>
      </p:sp>
    </p:spTree>
    <p:extLst>
      <p:ext uri="{BB962C8B-B14F-4D97-AF65-F5344CB8AC3E}">
        <p14:creationId xmlns:p14="http://schemas.microsoft.com/office/powerpoint/2010/main" val="195550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C70711D-7113-4BD6-93BB-5D583875857E}"/>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B5913176-255E-4546-88F3-D050982D9F13}"/>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Tonghu Oral Solution P3001</a:t>
            </a:r>
            <a:endParaRPr sz="2400"/>
          </a:p>
        </p:txBody>
      </p:sp>
      <p:sp>
        <p:nvSpPr>
          <p:cNvPr id="4" name="Text 2">
            <a:extLst>
              <a:ext uri="{FF2B5EF4-FFF2-40B4-BE49-F238E27FC236}">
                <a16:creationId xmlns:a16="http://schemas.microsoft.com/office/drawing/2014/main" id="{7694F56A-B741-4E6B-974F-7FF064C6B4C8}"/>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Pediatrics | Oral solution | Fictional product</a:t>
            </a:r>
            <a:endParaRPr sz="1050"/>
          </a:p>
        </p:txBody>
      </p:sp>
      <p:sp>
        <p:nvSpPr>
          <p:cNvPr id="5" name="Text 3">
            <a:extLst>
              <a:ext uri="{FF2B5EF4-FFF2-40B4-BE49-F238E27FC236}">
                <a16:creationId xmlns:a16="http://schemas.microsoft.com/office/drawing/2014/main" id="{5495957F-67FD-4352-9E77-76C5D3A7FFEA}"/>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06</a:t>
            </a:r>
            <a:endParaRPr sz="750"/>
          </a:p>
        </p:txBody>
      </p:sp>
      <p:sp>
        <p:nvSpPr>
          <p:cNvPr id="6" name="Text 4">
            <a:extLst>
              <a:ext uri="{FF2B5EF4-FFF2-40B4-BE49-F238E27FC236}">
                <a16:creationId xmlns:a16="http://schemas.microsoft.com/office/drawing/2014/main" id="{75FD9BB3-1F26-44C7-A558-F9CD604E055A}"/>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pic>
        <p:nvPicPr>
          <p:cNvPr id="24" name="Image 0"/>
          <p:cNvPicPr>
            <a:picLocks noChangeAspect="1"/>
          </p:cNvPicPr>
          <p:nvPr/>
        </p:nvPicPr>
        <p:blipFill>
          <a:blip r:embed="rId3"/>
          <a:stretch>
            <a:fillRect/>
          </a:stretch>
        </p:blipFill>
        <p:spPr>
          <a:xfrm>
            <a:off x="8458200" y="1170432"/>
            <a:ext cx="2880360" cy="2788920"/>
          </a:xfrm>
          <a:prstGeom prst="rect">
            <a:avLst/>
          </a:prstGeom>
        </p:spPr>
      </p:pic>
      <p:sp>
        <p:nvSpPr>
          <p:cNvPr id="8" name="Text 5">
            <a:extLst>
              <a:ext uri="{FF2B5EF4-FFF2-40B4-BE49-F238E27FC236}">
                <a16:creationId xmlns:a16="http://schemas.microsoft.com/office/drawing/2014/main" id="{8BD4056C-23A7-4F9B-9974-E431A04489D2}"/>
              </a:ext>
            </a:extLst>
          </p:cNvPr>
          <p:cNvSpPr>
            <a:spLocks noGrp="1"/>
          </p:cNvSpPr>
          <p:nvPr/>
        </p:nvSpPr>
        <p:spPr>
          <a:xfrm>
            <a:off x="594360" y="1170432"/>
            <a:ext cx="1828800" cy="201168"/>
          </a:xfrm>
          <a:prstGeom prst="rect">
            <a:avLst/>
          </a:prstGeom>
          <a:noFill/>
        </p:spPr>
        <p:txBody>
          <a:bodyPr wrap="square" lIns="0" tIns="0" rIns="0" bIns="0" anchor="ctr"/>
          <a:lstStyle/>
          <a:p>
            <a:pPr marL="0" indent="0">
              <a:buNone/>
            </a:pPr>
            <a:r>
              <a:rPr sz="1150" b="1">
                <a:solidFill>
                  <a:srgbClr val="16898B"/>
                </a:solidFill>
              </a:rPr>
              <a:t>Functional Positioning</a:t>
            </a:r>
            <a:endParaRPr sz="1150"/>
          </a:p>
        </p:txBody>
      </p:sp>
      <p:sp>
        <p:nvSpPr>
          <p:cNvPr id="9" name="Text 6">
            <a:extLst>
              <a:ext uri="{FF2B5EF4-FFF2-40B4-BE49-F238E27FC236}">
                <a16:creationId xmlns:a16="http://schemas.microsoft.com/office/drawing/2014/main" id="{323C7076-6BDB-4B44-A26A-AB3FF35BD71D}"/>
              </a:ext>
            </a:extLst>
          </p:cNvPr>
          <p:cNvSpPr>
            <a:spLocks noGrp="1"/>
          </p:cNvSpPr>
          <p:nvPr/>
        </p:nvSpPr>
        <p:spPr>
          <a:xfrm>
            <a:off x="594360" y="1481328"/>
            <a:ext cx="7315200" cy="502920"/>
          </a:xfrm>
          <a:prstGeom prst="rect">
            <a:avLst/>
          </a:prstGeom>
          <a:noFill/>
        </p:spPr>
        <p:txBody>
          <a:bodyPr wrap="square" lIns="0" tIns="0" rIns="0" bIns="0" anchor="ctr"/>
          <a:lstStyle/>
          <a:p>
            <a:pPr marL="0" indent="0">
              <a:buNone/>
            </a:pPr>
            <a:r>
              <a:rPr sz="2200" b="1">
                <a:solidFill>
                  <a:srgbClr val="102F46"/>
                </a:solidFill>
              </a:rPr>
              <a:t>Oral Liquid for Short-Term Pediatric Discomfort</a:t>
            </a:r>
            <a:endParaRPr sz="2200"/>
          </a:p>
        </p:txBody>
      </p:sp>
      <p:sp>
        <p:nvSpPr>
          <p:cNvPr id="10" name="Text 7">
            <a:extLst>
              <a:ext uri="{FF2B5EF4-FFF2-40B4-BE49-F238E27FC236}">
                <a16:creationId xmlns:a16="http://schemas.microsoft.com/office/drawing/2014/main" id="{82CD43B0-984A-4EA0-A9E7-A9E521932AB8}"/>
              </a:ext>
            </a:extLst>
          </p:cNvPr>
          <p:cNvSpPr>
            <a:spLocks noGrp="1"/>
          </p:cNvSpPr>
          <p:nvPr/>
        </p:nvSpPr>
        <p:spPr>
          <a:xfrm>
            <a:off x="594360" y="2103120"/>
            <a:ext cx="7315200" cy="941832"/>
          </a:xfrm>
          <a:prstGeom prst="rect">
            <a:avLst/>
          </a:prstGeom>
          <a:noFill/>
        </p:spPr>
        <p:txBody>
          <a:bodyPr wrap="square" lIns="0" tIns="0" rIns="0" bIns="0" anchor="ctr"/>
          <a:lstStyle/>
          <a:p>
            <a:pPr marL="0" indent="0">
              <a:buNone/>
            </a:pPr>
            <a:r>
              <a:rPr sz="1320">
                <a:solidFill>
                  <a:srgbClr val="23323D"/>
                </a:solidFill>
              </a:rPr>
              <a:t>Tonghu Oral Solution is a fictional product for short-term pediatric symptom care. Its imagined action eases common mild discomfort, offering an easier-to-swallow form after clinical assessment. The liquid allows individual measurement, with a dedicated cup to reduce estimation differences.</a:t>
            </a:r>
            <a:endParaRPr sz="1320"/>
          </a:p>
        </p:txBody>
      </p:sp>
      <p:sp>
        <p:nvSpPr>
          <p:cNvPr id="11" name="Text 8">
            <a:extLst>
              <a:ext uri="{FF2B5EF4-FFF2-40B4-BE49-F238E27FC236}">
                <a16:creationId xmlns:a16="http://schemas.microsoft.com/office/drawing/2014/main" id="{1002FCC3-6B34-4BCB-94DD-CC167D47F1AB}"/>
              </a:ext>
            </a:extLst>
          </p:cNvPr>
          <p:cNvSpPr>
            <a:spLocks noGrp="1"/>
          </p:cNvSpPr>
          <p:nvPr/>
        </p:nvSpPr>
        <p:spPr>
          <a:xfrm>
            <a:off x="594360" y="3218688"/>
            <a:ext cx="2103120" cy="219456"/>
          </a:xfrm>
          <a:prstGeom prst="rect">
            <a:avLst/>
          </a:prstGeom>
          <a:noFill/>
        </p:spPr>
        <p:txBody>
          <a:bodyPr wrap="square" lIns="0" tIns="0" rIns="0" bIns="0" anchor="ctr"/>
          <a:lstStyle/>
          <a:p>
            <a:pPr marL="0" indent="0">
              <a:buNone/>
            </a:pPr>
            <a:r>
              <a:rPr sz="1300" b="1">
                <a:solidFill>
                  <a:srgbClr val="16898B"/>
                </a:solidFill>
              </a:rPr>
              <a:t>Uses and Care Settings</a:t>
            </a:r>
            <a:endParaRPr sz="1300"/>
          </a:p>
        </p:txBody>
      </p:sp>
      <p:sp>
        <p:nvSpPr>
          <p:cNvPr id="12" name="Text 9">
            <a:extLst>
              <a:ext uri="{FF2B5EF4-FFF2-40B4-BE49-F238E27FC236}">
                <a16:creationId xmlns:a16="http://schemas.microsoft.com/office/drawing/2014/main" id="{EBCBA628-75BA-4AD8-8DCC-927EC3E09F25}"/>
              </a:ext>
            </a:extLst>
          </p:cNvPr>
          <p:cNvSpPr>
            <a:spLocks noGrp="1"/>
          </p:cNvSpPr>
          <p:nvPr/>
        </p:nvSpPr>
        <p:spPr>
          <a:xfrm>
            <a:off x="594360" y="3547872"/>
            <a:ext cx="7315200" cy="914400"/>
          </a:xfrm>
          <a:prstGeom prst="rect">
            <a:avLst/>
          </a:prstGeom>
          <a:noFill/>
        </p:spPr>
        <p:txBody>
          <a:bodyPr wrap="square" lIns="0" tIns="0" rIns="0" bIns="0" anchor="ctr"/>
          <a:lstStyle/>
          <a:p>
            <a:pPr marL="0" indent="0">
              <a:buNone/>
            </a:pPr>
            <a:r>
              <a:rPr sz="1280">
                <a:solidFill>
                  <a:srgbClr val="23323D"/>
                </a:solidFill>
              </a:rPr>
              <a:t>Use setting: children who have difficulty swallowing tablets and need caregiver support. At dispensing, explain cup markings, daily records and the opening date. Ask caregivers to describe the steps in their own words to confirm understanding.</a:t>
            </a:r>
            <a:endParaRPr sz="1280"/>
          </a:p>
        </p:txBody>
      </p:sp>
      <p:sp>
        <p:nvSpPr>
          <p:cNvPr id="13" name="Text 10">
            <a:extLst>
              <a:ext uri="{FF2B5EF4-FFF2-40B4-BE49-F238E27FC236}">
                <a16:creationId xmlns:a16="http://schemas.microsoft.com/office/drawing/2014/main" id="{051E1BB4-00AB-4809-B070-F21BED4489CA}"/>
              </a:ext>
            </a:extLst>
          </p:cNvPr>
          <p:cNvSpPr>
            <a:spLocks noGrp="1"/>
          </p:cNvSpPr>
          <p:nvPr/>
        </p:nvSpPr>
        <p:spPr>
          <a:xfrm>
            <a:off x="594360" y="4645152"/>
            <a:ext cx="2468880" cy="219456"/>
          </a:xfrm>
          <a:prstGeom prst="rect">
            <a:avLst/>
          </a:prstGeom>
          <a:noFill/>
        </p:spPr>
        <p:txBody>
          <a:bodyPr wrap="square" lIns="0" tIns="0" rIns="0" bIns="0" anchor="ctr"/>
          <a:lstStyle/>
          <a:p>
            <a:pPr marL="0" indent="0">
              <a:buNone/>
            </a:pPr>
            <a:r>
              <a:rPr sz="1300" b="1">
                <a:solidFill>
                  <a:srgbClr val="A55A38"/>
                </a:solidFill>
              </a:rPr>
              <a:t>Use and Management Precautions</a:t>
            </a:r>
            <a:endParaRPr sz="1300"/>
          </a:p>
        </p:txBody>
      </p:sp>
      <p:sp>
        <p:nvSpPr>
          <p:cNvPr id="14" name="Text 11">
            <a:extLst>
              <a:ext uri="{FF2B5EF4-FFF2-40B4-BE49-F238E27FC236}">
                <a16:creationId xmlns:a16="http://schemas.microsoft.com/office/drawing/2014/main" id="{BA2A53AC-9AF1-4BE4-9E1E-F6976094A8B8}"/>
              </a:ext>
            </a:extLst>
          </p:cNvPr>
          <p:cNvSpPr>
            <a:spLocks noGrp="1"/>
          </p:cNvSpPr>
          <p:nvPr/>
        </p:nvSpPr>
        <p:spPr>
          <a:xfrm>
            <a:off x="594360" y="4965192"/>
            <a:ext cx="7315200" cy="932688"/>
          </a:xfrm>
          <a:prstGeom prst="rect">
            <a:avLst/>
          </a:prstGeom>
          <a:noFill/>
        </p:spPr>
        <p:txBody>
          <a:bodyPr wrap="square" lIns="0" tIns="0" rIns="0" bIns="0" anchor="ctr"/>
          <a:lstStyle/>
          <a:p>
            <a:pPr marL="0" indent="0">
              <a:buNone/>
            </a:pPr>
            <a:r>
              <a:rPr sz="1280">
                <a:solidFill>
                  <a:srgbClr val="23323D"/>
                </a:solidFill>
              </a:rPr>
              <a:t>Precautions: do not substitute a household spoon for the cup or increase frequency independently. If discomfort persists, eating becomes difficult, or skin reactions or other abnormalities occur, caregivers should stop self-management and contact a clinician. Observe the labeled period after opening.</a:t>
            </a:r>
            <a:endParaRPr sz="1280"/>
          </a:p>
        </p:txBody>
      </p:sp>
      <p:graphicFrame>
        <p:nvGraphicFramePr>
          <p:cNvPr id="32" name="Table 0"/>
          <p:cNvGraphicFramePr/>
          <p:nvPr/>
        </p:nvGraphicFramePr>
        <p:xfrm>
          <a:off x="8275320" y="4224528"/>
          <a:ext cx="3246120" cy="1316736"/>
        </p:xfrm>
        <a:graphic>
          <a:graphicData uri="http://schemas.openxmlformats.org/drawingml/2006/table">
            <a:tbl>
              <a:tblPr/>
              <a:tblGrid>
                <a:gridCol w="1143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marL="0" indent="0" algn="ctr">
                        <a:buNone/>
                      </a:pPr>
                      <a:r>
                        <a:rPr sz="860" b="1">
                          <a:solidFill>
                            <a:srgbClr val="FFFFFF"/>
                          </a:solidFill>
                          <a:latin typeface="Microsoft JhengHei"/>
                          <a:ea typeface="Microsoft JhengHei"/>
                          <a:cs typeface="Microsoft JhengHei"/>
                        </a:rPr>
                        <a:t>Basic information</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860" b="1">
                          <a:solidFill>
                            <a:srgbClr val="FFFFFF"/>
                          </a:solidFill>
                          <a:latin typeface="Microsoft JhengHei"/>
                          <a:ea typeface="Microsoft JhengHei"/>
                          <a:cs typeface="Microsoft JhengHei"/>
                        </a:rPr>
                        <a:t>Product details</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860" b="1">
                          <a:solidFill>
                            <a:srgbClr val="102F46"/>
                          </a:solidFill>
                          <a:latin typeface="Microsoft JhengHei"/>
                          <a:ea typeface="Microsoft JhengHei"/>
                          <a:cs typeface="Microsoft JhengHei"/>
                        </a:rPr>
                        <a:t>Pack / storage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120 mL / bottle, with cup; room temperature, protect from light</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860" b="1">
                          <a:solidFill>
                            <a:srgbClr val="102F46"/>
                          </a:solidFill>
                          <a:latin typeface="Microsoft JhengHei"/>
                          <a:ea typeface="Microsoft JhengHei"/>
                          <a:cs typeface="Microsoft JhengHei"/>
                        </a:rPr>
                        <a:t>Shelf life / price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2 years unopened; NT$180 / bottle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6" name="Text 12">
            <a:extLst>
              <a:ext uri="{FF2B5EF4-FFF2-40B4-BE49-F238E27FC236}">
                <a16:creationId xmlns:a16="http://schemas.microsoft.com/office/drawing/2014/main" id="{07F6AF6E-EF19-4C8E-9091-90554D78F20E}"/>
              </a:ext>
            </a:extLst>
          </p:cNvPr>
          <p:cNvSpPr>
            <a:spLocks noGrp="1"/>
          </p:cNvSpPr>
          <p:nvPr/>
        </p:nvSpPr>
        <p:spPr>
          <a:xfrm>
            <a:off x="8275320" y="5715000"/>
            <a:ext cx="3246120" cy="384048"/>
          </a:xfrm>
          <a:prstGeom prst="rect">
            <a:avLst/>
          </a:prstGeom>
          <a:noFill/>
        </p:spPr>
        <p:txBody>
          <a:bodyPr wrap="square" lIns="0" tIns="0" rIns="0" bIns="0" anchor="ctr"/>
          <a:lstStyle/>
          <a:p>
            <a:pPr marL="0" indent="0">
              <a:buNone/>
            </a:pPr>
            <a:r>
              <a:rPr sz="930" b="1">
                <a:solidFill>
                  <a:srgbClr val="A55A38"/>
                </a:solidFill>
              </a:rPr>
              <a:t>Fictional teaching description. Not for diagnosis, prescribing or actual medication use.</a:t>
            </a:r>
            <a:endParaRPr sz="930"/>
          </a:p>
        </p:txBody>
      </p:sp>
    </p:spTree>
    <p:extLst>
      <p:ext uri="{BB962C8B-B14F-4D97-AF65-F5344CB8AC3E}">
        <p14:creationId xmlns:p14="http://schemas.microsoft.com/office/powerpoint/2010/main" val="1944827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4E78F2A-96F3-45E4-B395-DE3B320AFC75}"/>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3C79F3CC-CB18-4328-8012-DBB1CE0E71B9}"/>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Wenmian Tablets P4001</a:t>
            </a:r>
            <a:endParaRPr sz="2400"/>
          </a:p>
        </p:txBody>
      </p:sp>
      <p:sp>
        <p:nvSpPr>
          <p:cNvPr id="4" name="Text 2">
            <a:extLst>
              <a:ext uri="{FF2B5EF4-FFF2-40B4-BE49-F238E27FC236}">
                <a16:creationId xmlns:a16="http://schemas.microsoft.com/office/drawing/2014/main" id="{3A4FD978-751F-485F-B708-517D71DB3AA3}"/>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Immunology | Tablets | Fictional product</a:t>
            </a:r>
            <a:endParaRPr sz="1050"/>
          </a:p>
        </p:txBody>
      </p:sp>
      <p:sp>
        <p:nvSpPr>
          <p:cNvPr id="5" name="Text 3">
            <a:extLst>
              <a:ext uri="{FF2B5EF4-FFF2-40B4-BE49-F238E27FC236}">
                <a16:creationId xmlns:a16="http://schemas.microsoft.com/office/drawing/2014/main" id="{9212299C-C01A-41AB-9C71-B20F242839D8}"/>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07</a:t>
            </a:r>
            <a:endParaRPr sz="750"/>
          </a:p>
        </p:txBody>
      </p:sp>
      <p:sp>
        <p:nvSpPr>
          <p:cNvPr id="6" name="Text 4">
            <a:extLst>
              <a:ext uri="{FF2B5EF4-FFF2-40B4-BE49-F238E27FC236}">
                <a16:creationId xmlns:a16="http://schemas.microsoft.com/office/drawing/2014/main" id="{6190A1B4-ACE4-4FD0-9FB5-E9A25B0FB994}"/>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pic>
        <p:nvPicPr>
          <p:cNvPr id="24" name="Image 0"/>
          <p:cNvPicPr>
            <a:picLocks noChangeAspect="1"/>
          </p:cNvPicPr>
          <p:nvPr/>
        </p:nvPicPr>
        <p:blipFill>
          <a:blip r:embed="rId3"/>
          <a:stretch>
            <a:fillRect/>
          </a:stretch>
        </p:blipFill>
        <p:spPr>
          <a:xfrm>
            <a:off x="8458200" y="1170432"/>
            <a:ext cx="2880360" cy="2788920"/>
          </a:xfrm>
          <a:prstGeom prst="rect">
            <a:avLst/>
          </a:prstGeom>
        </p:spPr>
      </p:pic>
      <p:sp>
        <p:nvSpPr>
          <p:cNvPr id="8" name="Text 5">
            <a:extLst>
              <a:ext uri="{FF2B5EF4-FFF2-40B4-BE49-F238E27FC236}">
                <a16:creationId xmlns:a16="http://schemas.microsoft.com/office/drawing/2014/main" id="{C5E2FEFF-1503-4D89-949D-36F0FE83F1B0}"/>
              </a:ext>
            </a:extLst>
          </p:cNvPr>
          <p:cNvSpPr>
            <a:spLocks noGrp="1"/>
          </p:cNvSpPr>
          <p:nvPr/>
        </p:nvSpPr>
        <p:spPr>
          <a:xfrm>
            <a:off x="594360" y="1170432"/>
            <a:ext cx="1828800" cy="201168"/>
          </a:xfrm>
          <a:prstGeom prst="rect">
            <a:avLst/>
          </a:prstGeom>
          <a:noFill/>
        </p:spPr>
        <p:txBody>
          <a:bodyPr wrap="square" lIns="0" tIns="0" rIns="0" bIns="0" anchor="ctr"/>
          <a:lstStyle/>
          <a:p>
            <a:pPr marL="0" indent="0">
              <a:buNone/>
            </a:pPr>
            <a:r>
              <a:rPr sz="1150" b="1">
                <a:solidFill>
                  <a:srgbClr val="16898B"/>
                </a:solidFill>
              </a:rPr>
              <a:t>Functional Positioning</a:t>
            </a:r>
            <a:endParaRPr sz="1150"/>
          </a:p>
        </p:txBody>
      </p:sp>
      <p:sp>
        <p:nvSpPr>
          <p:cNvPr id="9" name="Text 6">
            <a:extLst>
              <a:ext uri="{FF2B5EF4-FFF2-40B4-BE49-F238E27FC236}">
                <a16:creationId xmlns:a16="http://schemas.microsoft.com/office/drawing/2014/main" id="{9433D171-0029-4CB8-9EE8-C877B126F419}"/>
              </a:ext>
            </a:extLst>
          </p:cNvPr>
          <p:cNvSpPr>
            <a:spLocks noGrp="1"/>
          </p:cNvSpPr>
          <p:nvPr/>
        </p:nvSpPr>
        <p:spPr>
          <a:xfrm>
            <a:off x="594360" y="1481328"/>
            <a:ext cx="7315200" cy="502920"/>
          </a:xfrm>
          <a:prstGeom prst="rect">
            <a:avLst/>
          </a:prstGeom>
          <a:noFill/>
        </p:spPr>
        <p:txBody>
          <a:bodyPr wrap="square" lIns="0" tIns="0" rIns="0" bIns="0" anchor="ctr"/>
          <a:lstStyle/>
          <a:p>
            <a:pPr marL="0" indent="0">
              <a:buNone/>
            </a:pPr>
            <a:r>
              <a:rPr sz="2200" b="1">
                <a:solidFill>
                  <a:srgbClr val="102F46"/>
                </a:solidFill>
              </a:rPr>
              <a:t>Regular Oral Therapy for Chronic Immunology Care</a:t>
            </a:r>
            <a:endParaRPr sz="2200"/>
          </a:p>
        </p:txBody>
      </p:sp>
      <p:sp>
        <p:nvSpPr>
          <p:cNvPr id="10" name="Text 7">
            <a:extLst>
              <a:ext uri="{FF2B5EF4-FFF2-40B4-BE49-F238E27FC236}">
                <a16:creationId xmlns:a16="http://schemas.microsoft.com/office/drawing/2014/main" id="{0A513B3B-140F-4B3C-8C4A-CB366D8F5966}"/>
              </a:ext>
            </a:extLst>
          </p:cNvPr>
          <p:cNvSpPr>
            <a:spLocks noGrp="1"/>
          </p:cNvSpPr>
          <p:nvPr/>
        </p:nvSpPr>
        <p:spPr>
          <a:xfrm>
            <a:off x="594360" y="2103120"/>
            <a:ext cx="7315200" cy="941832"/>
          </a:xfrm>
          <a:prstGeom prst="rect">
            <a:avLst/>
          </a:prstGeom>
          <a:noFill/>
        </p:spPr>
        <p:txBody>
          <a:bodyPr wrap="square" lIns="0" tIns="0" rIns="0" bIns="0" anchor="ctr"/>
          <a:lstStyle/>
          <a:p>
            <a:pPr marL="0" indent="0">
              <a:buNone/>
            </a:pPr>
            <a:r>
              <a:rPr sz="1320">
                <a:solidFill>
                  <a:srgbClr val="23323D"/>
                </a:solidFill>
              </a:rPr>
              <a:t>Wenmian Tablets are a fictional product for chronic immunology care. Their imagined action moderates excessive immune responses to support long-term care plans. Fixed doses and monthly packs support regular dosing records and help institutions arrange follow-up and refill reminders.</a:t>
            </a:r>
            <a:endParaRPr sz="1320"/>
          </a:p>
        </p:txBody>
      </p:sp>
      <p:sp>
        <p:nvSpPr>
          <p:cNvPr id="11" name="Text 8">
            <a:extLst>
              <a:ext uri="{FF2B5EF4-FFF2-40B4-BE49-F238E27FC236}">
                <a16:creationId xmlns:a16="http://schemas.microsoft.com/office/drawing/2014/main" id="{16F76C67-9D19-4D20-85C8-DD2D31BB1092}"/>
              </a:ext>
            </a:extLst>
          </p:cNvPr>
          <p:cNvSpPr>
            <a:spLocks noGrp="1"/>
          </p:cNvSpPr>
          <p:nvPr/>
        </p:nvSpPr>
        <p:spPr>
          <a:xfrm>
            <a:off x="594360" y="3218688"/>
            <a:ext cx="2103120" cy="219456"/>
          </a:xfrm>
          <a:prstGeom prst="rect">
            <a:avLst/>
          </a:prstGeom>
          <a:noFill/>
        </p:spPr>
        <p:txBody>
          <a:bodyPr wrap="square" lIns="0" tIns="0" rIns="0" bIns="0" anchor="ctr"/>
          <a:lstStyle/>
          <a:p>
            <a:pPr marL="0" indent="0">
              <a:buNone/>
            </a:pPr>
            <a:r>
              <a:rPr sz="1300" b="1">
                <a:solidFill>
                  <a:srgbClr val="16898B"/>
                </a:solidFill>
              </a:rPr>
              <a:t>Uses and Care Settings</a:t>
            </a:r>
            <a:endParaRPr sz="1300"/>
          </a:p>
        </p:txBody>
      </p:sp>
      <p:sp>
        <p:nvSpPr>
          <p:cNvPr id="12" name="Text 9">
            <a:extLst>
              <a:ext uri="{FF2B5EF4-FFF2-40B4-BE49-F238E27FC236}">
                <a16:creationId xmlns:a16="http://schemas.microsoft.com/office/drawing/2014/main" id="{A248ED7C-1024-4EE6-A167-8D68AB451DC0}"/>
              </a:ext>
            </a:extLst>
          </p:cNvPr>
          <p:cNvSpPr>
            <a:spLocks noGrp="1"/>
          </p:cNvSpPr>
          <p:nvPr/>
        </p:nvSpPr>
        <p:spPr>
          <a:xfrm>
            <a:off x="594360" y="3547872"/>
            <a:ext cx="7315200" cy="914400"/>
          </a:xfrm>
          <a:prstGeom prst="rect">
            <a:avLst/>
          </a:prstGeom>
          <a:noFill/>
        </p:spPr>
        <p:txBody>
          <a:bodyPr wrap="square" lIns="0" tIns="0" rIns="0" bIns="0" anchor="ctr"/>
          <a:lstStyle/>
          <a:p>
            <a:pPr marL="0" indent="0">
              <a:buNone/>
            </a:pPr>
            <a:r>
              <a:rPr sz="1280">
                <a:solidFill>
                  <a:srgbClr val="23323D"/>
                </a:solidFill>
              </a:rPr>
              <a:t>Use setting: adults requiring ongoing follow-up after a full immunology assessment. Use paper logs or the institution's reminder system. At each visit, review dosing, lifestyle changes and unresolved questions.</a:t>
            </a:r>
            <a:endParaRPr sz="1280"/>
          </a:p>
        </p:txBody>
      </p:sp>
      <p:sp>
        <p:nvSpPr>
          <p:cNvPr id="13" name="Text 10">
            <a:extLst>
              <a:ext uri="{FF2B5EF4-FFF2-40B4-BE49-F238E27FC236}">
                <a16:creationId xmlns:a16="http://schemas.microsoft.com/office/drawing/2014/main" id="{54C1B993-8EB0-4A7E-8F7E-F8ACC4685F7F}"/>
              </a:ext>
            </a:extLst>
          </p:cNvPr>
          <p:cNvSpPr>
            <a:spLocks noGrp="1"/>
          </p:cNvSpPr>
          <p:nvPr/>
        </p:nvSpPr>
        <p:spPr>
          <a:xfrm>
            <a:off x="594360" y="4645152"/>
            <a:ext cx="2468880" cy="219456"/>
          </a:xfrm>
          <a:prstGeom prst="rect">
            <a:avLst/>
          </a:prstGeom>
          <a:noFill/>
        </p:spPr>
        <p:txBody>
          <a:bodyPr wrap="square" lIns="0" tIns="0" rIns="0" bIns="0" anchor="ctr"/>
          <a:lstStyle/>
          <a:p>
            <a:pPr marL="0" indent="0">
              <a:buNone/>
            </a:pPr>
            <a:r>
              <a:rPr sz="1300" b="1">
                <a:solidFill>
                  <a:srgbClr val="A55A38"/>
                </a:solidFill>
              </a:rPr>
              <a:t>Use and Management Precautions</a:t>
            </a:r>
            <a:endParaRPr sz="1300"/>
          </a:p>
        </p:txBody>
      </p:sp>
      <p:sp>
        <p:nvSpPr>
          <p:cNvPr id="14" name="Text 11">
            <a:extLst>
              <a:ext uri="{FF2B5EF4-FFF2-40B4-BE49-F238E27FC236}">
                <a16:creationId xmlns:a16="http://schemas.microsoft.com/office/drawing/2014/main" id="{83B14B98-0000-4B3E-8828-750555992980}"/>
              </a:ext>
            </a:extLst>
          </p:cNvPr>
          <p:cNvSpPr>
            <a:spLocks noGrp="1"/>
          </p:cNvSpPr>
          <p:nvPr/>
        </p:nvSpPr>
        <p:spPr>
          <a:xfrm>
            <a:off x="594360" y="4965192"/>
            <a:ext cx="7315200" cy="932688"/>
          </a:xfrm>
          <a:prstGeom prst="rect">
            <a:avLst/>
          </a:prstGeom>
          <a:noFill/>
        </p:spPr>
        <p:txBody>
          <a:bodyPr wrap="square" lIns="0" tIns="0" rIns="0" bIns="0" anchor="ctr"/>
          <a:lstStyle/>
          <a:p>
            <a:pPr marL="0" indent="0">
              <a:buNone/>
            </a:pPr>
            <a:r>
              <a:rPr sz="1280">
                <a:solidFill>
                  <a:srgbClr val="23323D"/>
                </a:solidFill>
              </a:rPr>
              <a:t>Precautions: review medical history, other medicines and recent health before use. Contact a clinician promptly if clear signs of infection, persistent fever or unusual reactions occur. Do not stop, increase the dose or share the product independently.</a:t>
            </a:r>
            <a:endParaRPr sz="1280"/>
          </a:p>
        </p:txBody>
      </p:sp>
      <p:graphicFrame>
        <p:nvGraphicFramePr>
          <p:cNvPr id="32" name="Table 0"/>
          <p:cNvGraphicFramePr/>
          <p:nvPr/>
        </p:nvGraphicFramePr>
        <p:xfrm>
          <a:off x="8275320" y="4224528"/>
          <a:ext cx="3246120" cy="1316736"/>
        </p:xfrm>
        <a:graphic>
          <a:graphicData uri="http://schemas.openxmlformats.org/drawingml/2006/table">
            <a:tbl>
              <a:tblPr/>
              <a:tblGrid>
                <a:gridCol w="1143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marL="0" indent="0" algn="ctr">
                        <a:buNone/>
                      </a:pPr>
                      <a:r>
                        <a:rPr sz="860" b="1">
                          <a:solidFill>
                            <a:srgbClr val="FFFFFF"/>
                          </a:solidFill>
                          <a:latin typeface="Microsoft JhengHei"/>
                          <a:ea typeface="Microsoft JhengHei"/>
                          <a:cs typeface="Microsoft JhengHei"/>
                        </a:rPr>
                        <a:t>Basic information</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860" b="1">
                          <a:solidFill>
                            <a:srgbClr val="FFFFFF"/>
                          </a:solidFill>
                          <a:latin typeface="Microsoft JhengHei"/>
                          <a:ea typeface="Microsoft JhengHei"/>
                          <a:cs typeface="Microsoft JhengHei"/>
                        </a:rPr>
                        <a:t>Product details</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860" b="1">
                          <a:solidFill>
                            <a:srgbClr val="102F46"/>
                          </a:solidFill>
                          <a:latin typeface="Microsoft JhengHei"/>
                          <a:ea typeface="Microsoft JhengHei"/>
                          <a:cs typeface="Microsoft JhengHei"/>
                        </a:rPr>
                        <a:t>Pack / storage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Fixed-dose tablets, 30 / box; room temperature, keep dry</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860" b="1">
                          <a:solidFill>
                            <a:srgbClr val="102F46"/>
                          </a:solidFill>
                          <a:latin typeface="Microsoft JhengHei"/>
                          <a:ea typeface="Microsoft JhengHei"/>
                          <a:cs typeface="Microsoft JhengHei"/>
                        </a:rPr>
                        <a:t>Shelf life / price</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860">
                          <a:solidFill>
                            <a:srgbClr val="23323D"/>
                          </a:solidFill>
                          <a:latin typeface="Microsoft JhengHei"/>
                          <a:ea typeface="Microsoft JhengHei"/>
                          <a:cs typeface="Microsoft JhengHei"/>
                        </a:rPr>
                        <a:t>2 years; NT$1,300 / box</a:t>
                      </a:r>
                      <a:endParaRPr sz="86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6" name="Text 12">
            <a:extLst>
              <a:ext uri="{FF2B5EF4-FFF2-40B4-BE49-F238E27FC236}">
                <a16:creationId xmlns:a16="http://schemas.microsoft.com/office/drawing/2014/main" id="{2874F65C-8792-449E-88E8-EAA485D8F81E}"/>
              </a:ext>
            </a:extLst>
          </p:cNvPr>
          <p:cNvSpPr>
            <a:spLocks noGrp="1"/>
          </p:cNvSpPr>
          <p:nvPr/>
        </p:nvSpPr>
        <p:spPr>
          <a:xfrm>
            <a:off x="8275320" y="5715000"/>
            <a:ext cx="3246120" cy="384048"/>
          </a:xfrm>
          <a:prstGeom prst="rect">
            <a:avLst/>
          </a:prstGeom>
          <a:noFill/>
        </p:spPr>
        <p:txBody>
          <a:bodyPr wrap="square" lIns="0" tIns="0" rIns="0" bIns="0" anchor="ctr"/>
          <a:lstStyle/>
          <a:p>
            <a:pPr marL="0" indent="0">
              <a:buNone/>
            </a:pPr>
            <a:r>
              <a:rPr sz="930" b="1">
                <a:solidFill>
                  <a:srgbClr val="A55A38"/>
                </a:solidFill>
              </a:rPr>
              <a:t>Fictional teaching description. Not for diagnosis, prescribing or actual medication use.</a:t>
            </a:r>
            <a:endParaRPr sz="930"/>
          </a:p>
        </p:txBody>
      </p:sp>
    </p:spTree>
    <p:extLst>
      <p:ext uri="{BB962C8B-B14F-4D97-AF65-F5344CB8AC3E}">
        <p14:creationId xmlns:p14="http://schemas.microsoft.com/office/powerpoint/2010/main" val="1989591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52584BE-714B-4B1B-B454-0E53510C8AED}"/>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C9D76DE8-FFFD-48CF-9F7F-F1FB33595945}"/>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Product Comparison and Key Messages</a:t>
            </a:r>
            <a:endParaRPr sz="2400"/>
          </a:p>
        </p:txBody>
      </p:sp>
      <p:sp>
        <p:nvSpPr>
          <p:cNvPr id="4" name="Text 2">
            <a:extLst>
              <a:ext uri="{FF2B5EF4-FFF2-40B4-BE49-F238E27FC236}">
                <a16:creationId xmlns:a16="http://schemas.microsoft.com/office/drawing/2014/main" id="{2D7F6C71-82C4-4172-BDB6-358C980FB8D1}"/>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Consistent comparison fields help Chenggong Medical Institution identify implementation requirements.</a:t>
            </a:r>
            <a:endParaRPr sz="1050"/>
          </a:p>
        </p:txBody>
      </p:sp>
      <p:sp>
        <p:nvSpPr>
          <p:cNvPr id="5" name="Text 3">
            <a:extLst>
              <a:ext uri="{FF2B5EF4-FFF2-40B4-BE49-F238E27FC236}">
                <a16:creationId xmlns:a16="http://schemas.microsoft.com/office/drawing/2014/main" id="{E38C088D-3626-4368-B462-8B6086075C3D}"/>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08</a:t>
            </a:r>
            <a:endParaRPr sz="750"/>
          </a:p>
        </p:txBody>
      </p:sp>
      <p:sp>
        <p:nvSpPr>
          <p:cNvPr id="6" name="Text 4">
            <a:extLst>
              <a:ext uri="{FF2B5EF4-FFF2-40B4-BE49-F238E27FC236}">
                <a16:creationId xmlns:a16="http://schemas.microsoft.com/office/drawing/2014/main" id="{FDB717B7-DA23-4383-9BC3-C2EA5EE00ACB}"/>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graphicFrame>
        <p:nvGraphicFramePr>
          <p:cNvPr id="16" name="Table 0"/>
          <p:cNvGraphicFramePr/>
          <p:nvPr/>
        </p:nvGraphicFramePr>
        <p:xfrm>
          <a:off x="411480" y="1234440"/>
          <a:ext cx="11384280" cy="2209800"/>
        </p:xfrm>
        <a:graphic>
          <a:graphicData uri="http://schemas.openxmlformats.org/drawingml/2006/table">
            <a:tbl>
              <a:tblPr/>
              <a:tblGrid>
                <a:gridCol w="15087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tblGrid>
              <a:tr h="438912">
                <a:tc>
                  <a:txBody>
                    <a:bodyPr/>
                    <a:lstStyle/>
                    <a:p>
                      <a:pPr marL="0" indent="0" algn="ctr">
                        <a:buNone/>
                      </a:pPr>
                      <a:r>
                        <a:rPr sz="950" b="1">
                          <a:solidFill>
                            <a:srgbClr val="FFFFFF"/>
                          </a:solidFill>
                          <a:latin typeface="Microsoft JhengHei"/>
                          <a:ea typeface="Microsoft JhengHei"/>
                          <a:cs typeface="Microsoft JhengHei"/>
                        </a:rPr>
                        <a:t>Comparison area</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Yaoheng Injection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Anbo Lyophilized Injection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Tonghu Oral Solution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Wenmian Tablets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950" b="1">
                          <a:solidFill>
                            <a:srgbClr val="102F46"/>
                          </a:solidFill>
                          <a:latin typeface="Microsoft JhengHei"/>
                          <a:ea typeface="Microsoft JhengHei"/>
                          <a:cs typeface="Microsoft JhengHei"/>
                        </a:rPr>
                        <a:t>Primary users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Hospital neurology team</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Oncology pharmacy team</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Pediatric caregivers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Immunology follow-up patients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950" b="1">
                          <a:solidFill>
                            <a:srgbClr val="102F46"/>
                          </a:solidFill>
                          <a:latin typeface="Microsoft JhengHei"/>
                          <a:ea typeface="Microsoft JhengHei"/>
                          <a:cs typeface="Microsoft JhengHei"/>
                        </a:rPr>
                        <a:t>Management complexity</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High: cold-chain handover</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Medium: strengths and batches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Medium: opening and dosing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Low to medium: follow-up</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sz="950" b="1">
                          <a:solidFill>
                            <a:srgbClr val="102F46"/>
                          </a:solidFill>
                          <a:latin typeface="Microsoft JhengHei"/>
                          <a:ea typeface="Microsoft JhengHei"/>
                          <a:cs typeface="Microsoft JhengHei"/>
                        </a:rPr>
                        <a:t>Key documents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Temperature and handover logs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Inventory and batch cards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Dosing instruction card</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Medication tracking form</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sz="950" b="1">
                          <a:solidFill>
                            <a:srgbClr val="102F46"/>
                          </a:solidFill>
                          <a:latin typeface="Microsoft JhengHei"/>
                          <a:ea typeface="Microsoft JhengHei"/>
                          <a:cs typeface="Microsoft JhengHei"/>
                        </a:rPr>
                        <a:t>Communication focus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Storage and incident handling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Strength selection and restocking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Ease of use for caregivers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Follow-up and refill timing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Text 5">
            <a:extLst>
              <a:ext uri="{FF2B5EF4-FFF2-40B4-BE49-F238E27FC236}">
                <a16:creationId xmlns:a16="http://schemas.microsoft.com/office/drawing/2014/main" id="{3D1D2B19-7A4D-45DA-9AC3-005E19C18701}"/>
              </a:ext>
            </a:extLst>
          </p:cNvPr>
          <p:cNvSpPr>
            <a:spLocks noGrp="1"/>
          </p:cNvSpPr>
          <p:nvPr/>
        </p:nvSpPr>
        <p:spPr>
          <a:xfrm>
            <a:off x="594360" y="4956048"/>
            <a:ext cx="1554480" cy="219456"/>
          </a:xfrm>
          <a:prstGeom prst="rect">
            <a:avLst/>
          </a:prstGeom>
          <a:noFill/>
        </p:spPr>
        <p:txBody>
          <a:bodyPr wrap="square" lIns="0" tIns="0" rIns="0" bIns="0" anchor="ctr"/>
          <a:lstStyle/>
          <a:p>
            <a:pPr marL="0" indent="0">
              <a:buNone/>
            </a:pPr>
            <a:r>
              <a:rPr sz="1300" b="1">
                <a:solidFill>
                  <a:srgbClr val="16898B"/>
                </a:solidFill>
              </a:rPr>
              <a:t>Comparison Summary</a:t>
            </a:r>
            <a:endParaRPr sz="1300"/>
          </a:p>
        </p:txBody>
      </p:sp>
      <p:sp>
        <p:nvSpPr>
          <p:cNvPr id="9" name="Text 6">
            <a:extLst>
              <a:ext uri="{FF2B5EF4-FFF2-40B4-BE49-F238E27FC236}">
                <a16:creationId xmlns:a16="http://schemas.microsoft.com/office/drawing/2014/main" id="{FEC19D88-07D7-4759-8076-373C25A22DE3}"/>
              </a:ext>
            </a:extLst>
          </p:cNvPr>
          <p:cNvSpPr>
            <a:spLocks noGrp="1"/>
          </p:cNvSpPr>
          <p:nvPr/>
        </p:nvSpPr>
        <p:spPr>
          <a:xfrm>
            <a:off x="594360" y="5321808"/>
            <a:ext cx="10698480" cy="512064"/>
          </a:xfrm>
          <a:prstGeom prst="rect">
            <a:avLst/>
          </a:prstGeom>
          <a:noFill/>
        </p:spPr>
        <p:txBody>
          <a:bodyPr wrap="square" lIns="0" tIns="0" rIns="0" bIns="0" anchor="ctr"/>
          <a:lstStyle/>
          <a:p>
            <a:pPr marL="0" indent="0">
              <a:buNone/>
            </a:pPr>
            <a:r>
              <a:rPr sz="1800" b="1">
                <a:solidFill>
                  <a:srgbClr val="102F46"/>
                </a:solidFill>
              </a:rPr>
              <a:t>The products differ mainly in their management workflows. Chenggong Medical Institution can set the implementation order based on its equipment, staff and existing documents.</a:t>
            </a:r>
            <a:endParaRPr sz="1800"/>
          </a:p>
        </p:txBody>
      </p:sp>
    </p:spTree>
    <p:extLst>
      <p:ext uri="{BB962C8B-B14F-4D97-AF65-F5344CB8AC3E}">
        <p14:creationId xmlns:p14="http://schemas.microsoft.com/office/powerpoint/2010/main" val="819912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9B78985-F0D5-4819-ABF4-28E92A9E9088}"/>
              </a:ext>
            </a:extLst>
          </p:cNvPr>
          <p:cNvSpPr>
            <a:spLocks noGrp="1"/>
          </p:cNvSpPr>
          <p:nvPr/>
        </p:nvSpPr>
        <p:spPr>
          <a:xfrm>
            <a:off x="0" y="0"/>
            <a:ext cx="12191695" cy="146304"/>
          </a:xfrm>
          <a:prstGeom prst="rect">
            <a:avLst/>
          </a:prstGeom>
          <a:solidFill>
            <a:srgbClr val="16898B"/>
          </a:solidFill>
          <a:ln w="12700">
            <a:solidFill>
              <a:srgbClr val="16898B"/>
            </a:solidFill>
            <a:prstDash val="solid"/>
          </a:ln>
        </p:spPr>
        <p:txBody>
          <a:bodyPr/>
          <a:lstStyle/>
          <a:p>
            <a:endParaRPr lang="zh-TW" altLang="en-US"/>
          </a:p>
        </p:txBody>
      </p:sp>
      <p:sp>
        <p:nvSpPr>
          <p:cNvPr id="3" name="Text 1">
            <a:extLst>
              <a:ext uri="{FF2B5EF4-FFF2-40B4-BE49-F238E27FC236}">
                <a16:creationId xmlns:a16="http://schemas.microsoft.com/office/drawing/2014/main" id="{F3EF6E52-055B-40CE-8AE9-2654179E1F85}"/>
              </a:ext>
            </a:extLst>
          </p:cNvPr>
          <p:cNvSpPr>
            <a:spLocks noGrp="1"/>
          </p:cNvSpPr>
          <p:nvPr/>
        </p:nvSpPr>
        <p:spPr>
          <a:xfrm>
            <a:off x="502920" y="338328"/>
            <a:ext cx="8046720" cy="384048"/>
          </a:xfrm>
          <a:prstGeom prst="rect">
            <a:avLst/>
          </a:prstGeom>
          <a:noFill/>
        </p:spPr>
        <p:txBody>
          <a:bodyPr wrap="square" lIns="0" tIns="0" rIns="0" bIns="0" anchor="ctr"/>
          <a:lstStyle/>
          <a:p>
            <a:pPr marL="0" indent="0">
              <a:buNone/>
            </a:pPr>
            <a:r>
              <a:rPr sz="2400" b="1">
                <a:solidFill>
                  <a:srgbClr val="102F46"/>
                </a:solidFill>
              </a:rPr>
              <a:t>Implementation Recommendations for Chenggong</a:t>
            </a:r>
            <a:endParaRPr sz="2400"/>
          </a:p>
        </p:txBody>
      </p:sp>
      <p:sp>
        <p:nvSpPr>
          <p:cNvPr id="4" name="Text 2">
            <a:extLst>
              <a:ext uri="{FF2B5EF4-FFF2-40B4-BE49-F238E27FC236}">
                <a16:creationId xmlns:a16="http://schemas.microsoft.com/office/drawing/2014/main" id="{681928D3-5D0B-4E11-BCF1-0A6B913130AB}"/>
              </a:ext>
            </a:extLst>
          </p:cNvPr>
          <p:cNvSpPr>
            <a:spLocks noGrp="1"/>
          </p:cNvSpPr>
          <p:nvPr/>
        </p:nvSpPr>
        <p:spPr>
          <a:xfrm>
            <a:off x="521208" y="786384"/>
            <a:ext cx="10698480" cy="237744"/>
          </a:xfrm>
          <a:prstGeom prst="rect">
            <a:avLst/>
          </a:prstGeom>
          <a:noFill/>
        </p:spPr>
        <p:txBody>
          <a:bodyPr wrap="square" lIns="0" tIns="0" rIns="0" bIns="0" anchor="ctr"/>
          <a:lstStyle/>
          <a:p>
            <a:pPr marL="0" indent="0">
              <a:buNone/>
            </a:pPr>
            <a:r>
              <a:rPr sz="1050">
                <a:solidFill>
                  <a:srgbClr val="647580"/>
                </a:solidFill>
              </a:rPr>
              <a:t>Happy Group proposes four weeks for workflow review, document preparation and a limited pilot.</a:t>
            </a:r>
            <a:endParaRPr sz="1050"/>
          </a:p>
        </p:txBody>
      </p:sp>
      <p:sp>
        <p:nvSpPr>
          <p:cNvPr id="5" name="Text 3">
            <a:extLst>
              <a:ext uri="{FF2B5EF4-FFF2-40B4-BE49-F238E27FC236}">
                <a16:creationId xmlns:a16="http://schemas.microsoft.com/office/drawing/2014/main" id="{D90DBE7E-6B3A-49BC-939A-3A12F90588D3}"/>
              </a:ext>
            </a:extLst>
          </p:cNvPr>
          <p:cNvSpPr>
            <a:spLocks noGrp="1"/>
          </p:cNvSpPr>
          <p:nvPr/>
        </p:nvSpPr>
        <p:spPr>
          <a:xfrm>
            <a:off x="502920" y="6519672"/>
            <a:ext cx="6400800" cy="146304"/>
          </a:xfrm>
          <a:prstGeom prst="rect">
            <a:avLst/>
          </a:prstGeom>
          <a:noFill/>
        </p:spPr>
        <p:txBody>
          <a:bodyPr wrap="square" lIns="0" tIns="0" rIns="0" bIns="0" anchor="ctr"/>
          <a:lstStyle/>
          <a:p>
            <a:pPr marL="0" indent="0">
              <a:buNone/>
            </a:pPr>
            <a:r>
              <a:rPr sz="750">
                <a:solidFill>
                  <a:srgbClr val="84939B"/>
                </a:solidFill>
              </a:rPr>
              <a:t>Happy Group × Chenggong Medical Institution | Product Proposal  09</a:t>
            </a:r>
            <a:endParaRPr sz="750"/>
          </a:p>
        </p:txBody>
      </p:sp>
      <p:sp>
        <p:nvSpPr>
          <p:cNvPr id="6" name="Text 4">
            <a:extLst>
              <a:ext uri="{FF2B5EF4-FFF2-40B4-BE49-F238E27FC236}">
                <a16:creationId xmlns:a16="http://schemas.microsoft.com/office/drawing/2014/main" id="{177DC5B3-04DA-4ED6-B4FF-8AE34D37F5F8}"/>
              </a:ext>
            </a:extLst>
          </p:cNvPr>
          <p:cNvSpPr>
            <a:spLocks noGrp="1"/>
          </p:cNvSpPr>
          <p:nvPr/>
        </p:nvSpPr>
        <p:spPr>
          <a:xfrm>
            <a:off x="8321040" y="6519672"/>
            <a:ext cx="3383280" cy="146304"/>
          </a:xfrm>
          <a:prstGeom prst="rect">
            <a:avLst/>
          </a:prstGeom>
          <a:noFill/>
        </p:spPr>
        <p:txBody>
          <a:bodyPr wrap="square" lIns="0" tIns="0" rIns="0" bIns="0" anchor="ctr"/>
          <a:lstStyle/>
          <a:p>
            <a:pPr marL="0" indent="0" algn="r">
              <a:buNone/>
            </a:pPr>
            <a:r>
              <a:rPr sz="750">
                <a:solidFill>
                  <a:srgbClr val="84939B"/>
                </a:solidFill>
              </a:rPr>
              <a:t>Fictional case study | Aiworks classroom practice</a:t>
            </a:r>
            <a:endParaRPr sz="750"/>
          </a:p>
        </p:txBody>
      </p:sp>
      <p:graphicFrame>
        <p:nvGraphicFramePr>
          <p:cNvPr id="15" name="Table 0"/>
          <p:cNvGraphicFramePr/>
          <p:nvPr/>
        </p:nvGraphicFramePr>
        <p:xfrm>
          <a:off x="502920" y="1234440"/>
          <a:ext cx="11155680" cy="2225040"/>
        </p:xfrm>
        <a:graphic>
          <a:graphicData uri="http://schemas.openxmlformats.org/drawingml/2006/table">
            <a:tbl>
              <a:tblPr/>
              <a:tblGrid>
                <a:gridCol w="1874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38912">
                <a:tc>
                  <a:txBody>
                    <a:bodyPr/>
                    <a:lstStyle/>
                    <a:p>
                      <a:pPr marL="0" indent="0" algn="ctr">
                        <a:buNone/>
                      </a:pPr>
                      <a:r>
                        <a:rPr sz="950" b="1">
                          <a:solidFill>
                            <a:srgbClr val="FFFFFF"/>
                          </a:solidFill>
                          <a:latin typeface="Microsoft JhengHei"/>
                          <a:ea typeface="Microsoft JhengHei"/>
                          <a:cs typeface="Microsoft JhengHei"/>
                        </a:rPr>
                        <a:t>Phase</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Institution's tasks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Happy Group support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tc>
                  <a:txBody>
                    <a:bodyPr/>
                    <a:lstStyle/>
                    <a:p>
                      <a:pPr marL="0" indent="0" algn="ctr">
                        <a:buNone/>
                      </a:pPr>
                      <a:r>
                        <a:rPr sz="950" b="1">
                          <a:solidFill>
                            <a:srgbClr val="FFFFFF"/>
                          </a:solidFill>
                          <a:latin typeface="Microsoft JhengHei"/>
                          <a:ea typeface="Microsoft JhengHei"/>
                          <a:cs typeface="Microsoft JhengHei"/>
                        </a:rPr>
                        <a:t>Expected output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102F46"/>
                    </a:solidFill>
                  </a:tcPr>
                </a:tc>
                <a:extLst>
                  <a:ext uri="{0D108BD9-81ED-4DB2-BD59-A6C34878D82A}">
                    <a16:rowId xmlns:a16="http://schemas.microsoft.com/office/drawing/2014/main" val="10000"/>
                  </a:ext>
                </a:extLst>
              </a:tr>
              <a:tr h="438912">
                <a:tc>
                  <a:txBody>
                    <a:bodyPr/>
                    <a:lstStyle/>
                    <a:p>
                      <a:pPr marL="0" indent="0">
                        <a:buNone/>
                      </a:pPr>
                      <a:r>
                        <a:rPr sz="950" b="1">
                          <a:solidFill>
                            <a:srgbClr val="102F46"/>
                          </a:solidFill>
                          <a:latin typeface="Microsoft JhengHei"/>
                          <a:ea typeface="Microsoft JhengHei"/>
                          <a:cs typeface="Microsoft JhengHei"/>
                        </a:rPr>
                        <a:t>Week 1: Review</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Confirm settings, storage equipment and owners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Provide a product information checklist and interview questions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Current-state review form</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sz="950" b="1">
                          <a:solidFill>
                            <a:srgbClr val="102F46"/>
                          </a:solidFill>
                          <a:latin typeface="Microsoft JhengHei"/>
                          <a:ea typeface="Microsoft JhengHei"/>
                          <a:cs typeface="Microsoft JhengHei"/>
                        </a:rPr>
                        <a:t>Week 2: Design</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Select handover, inventory, patient education or follow-up workflows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Compile relevant sample documents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Draft workflows and responsibilities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sz="950" b="1">
                          <a:solidFill>
                            <a:srgbClr val="102F46"/>
                          </a:solidFill>
                          <a:latin typeface="Microsoft JhengHei"/>
                          <a:ea typeface="Microsoft JhengHei"/>
                          <a:cs typeface="Microsoft JhengHei"/>
                        </a:rPr>
                        <a:t>Week 3: Pilot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Run simulations in one unit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Help compile issues and revise materials</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Pilot records and issue list</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sz="950" b="1">
                          <a:solidFill>
                            <a:srgbClr val="102F46"/>
                          </a:solidFill>
                          <a:latin typeface="Microsoft JhengHei"/>
                          <a:ea typeface="Microsoft JhengHei"/>
                          <a:cs typeface="Microsoft JhengHei"/>
                        </a:rPr>
                        <a:t>Week 4: Confirm</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E9F1F3"/>
                    </a:solidFill>
                  </a:tcPr>
                </a:tc>
                <a:tc>
                  <a:txBody>
                    <a:bodyPr/>
                    <a:lstStyle/>
                    <a:p>
                      <a:pPr marL="0" indent="0">
                        <a:buNone/>
                      </a:pPr>
                      <a:r>
                        <a:rPr sz="950">
                          <a:solidFill>
                            <a:srgbClr val="23323D"/>
                          </a:solidFill>
                          <a:latin typeface="Microsoft JhengHei"/>
                          <a:ea typeface="Microsoft JhengHei"/>
                          <a:cs typeface="Microsoft JhengHei"/>
                        </a:rPr>
                        <a:t>Confirm final versions and training approach</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Complete the information pack and briefing</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tc>
                  <a:txBody>
                    <a:bodyPr/>
                    <a:lstStyle/>
                    <a:p>
                      <a:pPr marL="0" indent="0">
                        <a:buNone/>
                      </a:pPr>
                      <a:r>
                        <a:rPr sz="950">
                          <a:solidFill>
                            <a:srgbClr val="23323D"/>
                          </a:solidFill>
                          <a:latin typeface="Microsoft JhengHei"/>
                          <a:ea typeface="Microsoft JhengHei"/>
                          <a:cs typeface="Microsoft JhengHei"/>
                        </a:rPr>
                        <a:t>Institutional implementation pack</a:t>
                      </a:r>
                      <a:endParaRPr sz="950">
                        <a:latin typeface="Microsoft JhengHei"/>
                        <a:ea typeface="Microsoft JhengHei"/>
                        <a:cs typeface="Microsoft JhengHei"/>
                      </a:endParaRPr>
                    </a:p>
                  </a:txBody>
                  <a:tcPr marL="82296" marR="82296" marT="82296" marB="82296" anchor="ctr">
                    <a:lnL w="12700" cmpd="sng">
                      <a:solidFill>
                        <a:srgbClr val="CBD8DE"/>
                      </a:solidFill>
                      <a:prstDash val="solid"/>
                    </a:lnL>
                    <a:lnR w="12700" cmpd="sng">
                      <a:solidFill>
                        <a:srgbClr val="CBD8DE"/>
                      </a:solidFill>
                      <a:prstDash val="solid"/>
                    </a:lnR>
                    <a:lnT w="12700" cmpd="sng">
                      <a:solidFill>
                        <a:srgbClr val="CBD8DE"/>
                      </a:solidFill>
                      <a:prstDash val="solid"/>
                    </a:lnT>
                    <a:lnB w="12700" cmpd="sng">
                      <a:solidFill>
                        <a:srgbClr val="CBD8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Text 5">
            <a:extLst>
              <a:ext uri="{FF2B5EF4-FFF2-40B4-BE49-F238E27FC236}">
                <a16:creationId xmlns:a16="http://schemas.microsoft.com/office/drawing/2014/main" id="{4EF346D4-1E38-48A2-87C6-ABEC77CFB1A5}"/>
              </a:ext>
            </a:extLst>
          </p:cNvPr>
          <p:cNvSpPr>
            <a:spLocks noGrp="1"/>
          </p:cNvSpPr>
          <p:nvPr/>
        </p:nvSpPr>
        <p:spPr>
          <a:xfrm>
            <a:off x="594360" y="5074920"/>
            <a:ext cx="10607040" cy="384048"/>
          </a:xfrm>
          <a:prstGeom prst="rect">
            <a:avLst/>
          </a:prstGeom>
          <a:noFill/>
        </p:spPr>
        <p:txBody>
          <a:bodyPr wrap="square" lIns="0" tIns="0" rIns="0" bIns="0" anchor="ctr"/>
          <a:lstStyle/>
          <a:p>
            <a:pPr marL="0" indent="0">
              <a:buNone/>
            </a:pPr>
            <a:r>
              <a:rPr sz="1700" b="1">
                <a:solidFill>
                  <a:srgbClr val="102F46"/>
                </a:solidFill>
              </a:rPr>
              <a:t>This teaching schedule may be adjusted to Chenggong Medical Institution's actual workflows.</a:t>
            </a:r>
            <a:endParaRPr sz="1700"/>
          </a:p>
        </p:txBody>
      </p:sp>
    </p:spTree>
    <p:extLst>
      <p:ext uri="{BB962C8B-B14F-4D97-AF65-F5344CB8AC3E}">
        <p14:creationId xmlns:p14="http://schemas.microsoft.com/office/powerpoint/2010/main" val="1169067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F46"/>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DD7C9D3-976E-41AF-9632-52A2E85EEE5F}"/>
              </a:ext>
            </a:extLst>
          </p:cNvPr>
          <p:cNvSpPr>
            <a:spLocks noGrp="1"/>
          </p:cNvSpPr>
          <p:nvPr/>
        </p:nvSpPr>
        <p:spPr>
          <a:xfrm>
            <a:off x="731520" y="731520"/>
            <a:ext cx="2011680" cy="320040"/>
          </a:xfrm>
          <a:prstGeom prst="rect">
            <a:avLst/>
          </a:prstGeom>
          <a:noFill/>
        </p:spPr>
        <p:txBody>
          <a:bodyPr wrap="square" lIns="0" tIns="0" rIns="0" bIns="0" anchor="ctr"/>
          <a:lstStyle/>
          <a:p>
            <a:pPr marL="0" indent="0">
              <a:buNone/>
            </a:pPr>
            <a:r>
              <a:rPr sz="1500" b="1">
                <a:solidFill>
                  <a:srgbClr val="9FD0D1"/>
                </a:solidFill>
              </a:rPr>
              <a:t>Partnership Priorities</a:t>
            </a:r>
            <a:endParaRPr sz="1500"/>
          </a:p>
        </p:txBody>
      </p:sp>
      <p:sp>
        <p:nvSpPr>
          <p:cNvPr id="3" name="Text 1">
            <a:extLst>
              <a:ext uri="{FF2B5EF4-FFF2-40B4-BE49-F238E27FC236}">
                <a16:creationId xmlns:a16="http://schemas.microsoft.com/office/drawing/2014/main" id="{A9E8D562-5341-4D1C-9925-25629CB63DF6}"/>
              </a:ext>
            </a:extLst>
          </p:cNvPr>
          <p:cNvSpPr>
            <a:spLocks noGrp="1"/>
          </p:cNvSpPr>
          <p:nvPr/>
        </p:nvSpPr>
        <p:spPr>
          <a:xfrm>
            <a:off x="731520" y="1234440"/>
            <a:ext cx="8046720" cy="777240"/>
          </a:xfrm>
          <a:prstGeom prst="rect">
            <a:avLst/>
          </a:prstGeom>
          <a:noFill/>
        </p:spPr>
        <p:txBody>
          <a:bodyPr wrap="square" lIns="0" tIns="0" rIns="0" bIns="0" anchor="ctr"/>
          <a:lstStyle/>
          <a:p>
            <a:pPr marL="0" indent="0">
              <a:buNone/>
            </a:pPr>
            <a:r>
              <a:rPr sz="3100" b="1">
                <a:solidFill>
                  <a:srgbClr val="FFFFFF"/>
                </a:solidFill>
              </a:rPr>
              <a:t>Product Information for Institutional Workflows</a:t>
            </a:r>
            <a:endParaRPr sz="3100"/>
          </a:p>
        </p:txBody>
      </p:sp>
      <p:sp>
        <p:nvSpPr>
          <p:cNvPr id="4" name="Text 2">
            <a:extLst>
              <a:ext uri="{FF2B5EF4-FFF2-40B4-BE49-F238E27FC236}">
                <a16:creationId xmlns:a16="http://schemas.microsoft.com/office/drawing/2014/main" id="{09DBAD10-6BBA-43FA-BB8C-5BCF0573223C}"/>
              </a:ext>
            </a:extLst>
          </p:cNvPr>
          <p:cNvSpPr>
            <a:spLocks noGrp="1"/>
          </p:cNvSpPr>
          <p:nvPr/>
        </p:nvSpPr>
        <p:spPr>
          <a:xfrm>
            <a:off x="749808" y="2423160"/>
            <a:ext cx="6766560" cy="1371600"/>
          </a:xfrm>
          <a:prstGeom prst="rect">
            <a:avLst/>
          </a:prstGeom>
          <a:noFill/>
        </p:spPr>
        <p:txBody>
          <a:bodyPr wrap="square" lIns="0" tIns="0" rIns="0" bIns="0" anchor="ctr"/>
          <a:lstStyle/>
          <a:p>
            <a:pPr marL="0" indent="0">
              <a:buNone/>
            </a:pPr>
            <a:r>
              <a:rPr sz="1800">
                <a:solidFill>
                  <a:srgbClr val="D9E6EA"/>
                </a:solidFill>
              </a:rPr>
              <a:t>Happy Group will tailor product information and implementation documents to Chenggong Medical Institution's storage conditions, responsibilities and training needs. The next step is to select one product, review the unit's workflow and design a pilot.</a:t>
            </a:r>
            <a:endParaRPr sz="1800"/>
          </a:p>
        </p:txBody>
      </p:sp>
      <p:sp>
        <p:nvSpPr>
          <p:cNvPr id="5" name="Shape 3">
            <a:extLst>
              <a:ext uri="{FF2B5EF4-FFF2-40B4-BE49-F238E27FC236}">
                <a16:creationId xmlns:a16="http://schemas.microsoft.com/office/drawing/2014/main" id="{A5914683-B469-49CD-9039-06BC9986DDDE}"/>
              </a:ext>
            </a:extLst>
          </p:cNvPr>
          <p:cNvSpPr>
            <a:spLocks noGrp="1"/>
          </p:cNvSpPr>
          <p:nvPr/>
        </p:nvSpPr>
        <p:spPr>
          <a:xfrm>
            <a:off x="749808" y="4343400"/>
            <a:ext cx="5029200" cy="0"/>
          </a:xfrm>
          <a:prstGeom prst="line">
            <a:avLst/>
          </a:prstGeom>
          <a:noFill/>
          <a:ln w="12700">
            <a:solidFill>
              <a:srgbClr val="C9A45D"/>
            </a:solidFill>
            <a:prstDash val="solid"/>
          </a:ln>
        </p:spPr>
        <p:txBody>
          <a:bodyPr/>
          <a:lstStyle/>
          <a:p>
            <a:endParaRPr lang="zh-TW" altLang="en-US"/>
          </a:p>
        </p:txBody>
      </p:sp>
      <p:sp>
        <p:nvSpPr>
          <p:cNvPr id="6" name="Text 4">
            <a:extLst>
              <a:ext uri="{FF2B5EF4-FFF2-40B4-BE49-F238E27FC236}">
                <a16:creationId xmlns:a16="http://schemas.microsoft.com/office/drawing/2014/main" id="{5C2FD1BC-3127-4156-87E5-64FCD578E0FE}"/>
              </a:ext>
            </a:extLst>
          </p:cNvPr>
          <p:cNvSpPr>
            <a:spLocks noGrp="1"/>
          </p:cNvSpPr>
          <p:nvPr/>
        </p:nvSpPr>
        <p:spPr>
          <a:xfrm>
            <a:off x="749808" y="4773168"/>
            <a:ext cx="3474720" cy="274320"/>
          </a:xfrm>
          <a:prstGeom prst="rect">
            <a:avLst/>
          </a:prstGeom>
          <a:noFill/>
        </p:spPr>
        <p:txBody>
          <a:bodyPr wrap="square" lIns="0" tIns="0" rIns="0" bIns="0" anchor="ctr"/>
          <a:lstStyle/>
          <a:p>
            <a:pPr marL="0" indent="0">
              <a:buNone/>
            </a:pPr>
            <a:r>
              <a:rPr sz="1600" b="1">
                <a:solidFill>
                  <a:srgbClr val="FFFFFF"/>
                </a:solidFill>
              </a:rPr>
              <a:t>Presented by   Happy Group</a:t>
            </a:r>
            <a:endParaRPr sz="1600"/>
          </a:p>
        </p:txBody>
      </p:sp>
      <p:sp>
        <p:nvSpPr>
          <p:cNvPr id="7" name="Text 5">
            <a:extLst>
              <a:ext uri="{FF2B5EF4-FFF2-40B4-BE49-F238E27FC236}">
                <a16:creationId xmlns:a16="http://schemas.microsoft.com/office/drawing/2014/main" id="{8A782D06-E1EC-4CE6-A6AA-8913129460D0}"/>
              </a:ext>
            </a:extLst>
          </p:cNvPr>
          <p:cNvSpPr>
            <a:spLocks noGrp="1"/>
          </p:cNvSpPr>
          <p:nvPr/>
        </p:nvSpPr>
        <p:spPr>
          <a:xfrm>
            <a:off x="749808" y="5212080"/>
            <a:ext cx="3474720" cy="274320"/>
          </a:xfrm>
          <a:prstGeom prst="rect">
            <a:avLst/>
          </a:prstGeom>
          <a:noFill/>
        </p:spPr>
        <p:txBody>
          <a:bodyPr wrap="square" lIns="0" tIns="0" rIns="0" bIns="0" anchor="ctr"/>
          <a:lstStyle/>
          <a:p>
            <a:pPr marL="0" indent="0">
              <a:buNone/>
            </a:pPr>
            <a:r>
              <a:rPr sz="1600" b="1">
                <a:solidFill>
                  <a:srgbClr val="FFFFFF"/>
                </a:solidFill>
              </a:rPr>
              <a:t>Prepared for   Chenggong Medical Institution</a:t>
            </a:r>
            <a:endParaRPr sz="1600"/>
          </a:p>
        </p:txBody>
      </p:sp>
      <p:sp>
        <p:nvSpPr>
          <p:cNvPr id="8" name="Text 6">
            <a:extLst>
              <a:ext uri="{FF2B5EF4-FFF2-40B4-BE49-F238E27FC236}">
                <a16:creationId xmlns:a16="http://schemas.microsoft.com/office/drawing/2014/main" id="{6183F965-BD6E-4144-A231-E8D81E792E0F}"/>
              </a:ext>
            </a:extLst>
          </p:cNvPr>
          <p:cNvSpPr>
            <a:spLocks noGrp="1"/>
          </p:cNvSpPr>
          <p:nvPr/>
        </p:nvSpPr>
        <p:spPr>
          <a:xfrm>
            <a:off x="749808" y="6126480"/>
            <a:ext cx="7498080" cy="219456"/>
          </a:xfrm>
          <a:prstGeom prst="rect">
            <a:avLst/>
          </a:prstGeom>
          <a:noFill/>
        </p:spPr>
        <p:txBody>
          <a:bodyPr wrap="square" lIns="0" tIns="0" rIns="0" bIns="0" anchor="ctr"/>
          <a:lstStyle/>
          <a:p>
            <a:pPr marL="0" indent="0">
              <a:buNone/>
            </a:pPr>
            <a:r>
              <a:rPr sz="900">
                <a:solidFill>
                  <a:srgbClr val="AFC2CB"/>
                </a:solidFill>
              </a:rPr>
              <a:t>All products, specifications, prices and scenarios in this presentation are fictional teaching data.</a:t>
            </a:r>
            <a:endParaRPr sz="900"/>
          </a:p>
        </p:txBody>
      </p:sp>
    </p:spTree>
    <p:extLst>
      <p:ext uri="{BB962C8B-B14F-4D97-AF65-F5344CB8AC3E}">
        <p14:creationId xmlns:p14="http://schemas.microsoft.com/office/powerpoint/2010/main" val="193559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1566</Words>
  <Application>Microsoft Office PowerPoint</Application>
  <DocSecurity>0</DocSecurity>
  <PresentationFormat>寬螢幕</PresentationFormat>
  <Paragraphs>205</Paragraphs>
  <Slides>10</Slides>
  <Notes>10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Microsoft JhengHei</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Aiworks</cp:lastModifiedBy>
  <cp:revision>1</cp:revision>
  <dcterms:created xsi:type="dcterms:W3CDTF">2026-09-15T06:30:59Z</dcterms:created>
  <dcterms:modified xsi:type="dcterms:W3CDTF">2026-09-15T06:44:18Z</dcterms:modified>
</cp:coreProperties>
</file>