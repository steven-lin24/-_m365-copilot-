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F46"/>
          </a:solidFill>
          <a:ln w="12700">
            <a:solidFill>
              <a:srgbClr val="102F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35240" y="0"/>
            <a:ext cx="4553712" cy="6858000"/>
          </a:xfrm>
          <a:prstGeom prst="rect">
            <a:avLst/>
          </a:prstGeom>
          <a:solidFill>
            <a:srgbClr val="16898B">
              <a:alpha val="82000"/>
            </a:srgbClr>
          </a:solidFill>
          <a:ln w="12700">
            <a:solidFill>
              <a:srgbClr val="16898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051560"/>
            <a:ext cx="1051560" cy="0"/>
          </a:xfrm>
          <a:prstGeom prst="line">
            <a:avLst/>
          </a:prstGeom>
          <a:noFill/>
          <a:ln w="12700">
            <a:solidFill>
              <a:srgbClr val="C9A45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</a:rPr>
              <a:t>產品資訊與合作提案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804672" y="23317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6E4E9"/>
                </a:solidFill>
              </a:rPr>
              <a:t>四項虛構醫療產品的定位、規格與院所導入說明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C9CB"/>
                </a:solidFill>
              </a:rPr>
              <a:t>提案單位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40050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快樂集團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886200" y="370332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C9CB"/>
                </a:solidFill>
              </a:rPr>
              <a:t>提案對象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86200" y="40050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成功院所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60807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45D"/>
                </a:solidFill>
              </a:rPr>
              <a:t>產品資訊說明｜虛構案例資料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98B"/>
          </a:solidFill>
          <a:ln w="12700">
            <a:solidFill>
              <a:srgbClr val="168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F46"/>
                </a:solidFill>
              </a:rPr>
              <a:t>產品組合總覽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0"/>
                </a:solidFill>
              </a:rPr>
              <a:t>四項產品對應不同照護場景，所有名稱、規格與價格均為教學用虛構資料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快樂集團 × 成功院所｜產品資訊提案　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65196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虛構案例資料｜Aiworks 課堂實作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2971800"/>
        </p:xfrm>
        <a:graphic>
          <a:graphicData uri="http://schemas.openxmlformats.org/drawingml/2006/table">
            <a:tbl>
              <a:tblPr/>
              <a:tblGrid>
                <a:gridCol w="1005840"/>
                <a:gridCol w="1600200"/>
                <a:gridCol w="1188720"/>
                <a:gridCol w="1371600"/>
                <a:gridCol w="1508760"/>
                <a:gridCol w="1005840"/>
                <a:gridCol w="34747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產品代碼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產品名稱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產品類別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劑型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標準單價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核心定位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P1001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曜衡注射液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神經科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注射劑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NT$240,000／盒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冷鏈追溯與院內交接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P2001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安鉑凍晶劑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腫瘤科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凍晶注射劑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NT$700／瓶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規格選擇與批號管理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P3001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童護口服液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兒科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口服液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NT$180／瓶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劑量理解與居家使用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P4001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穩免錠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免疫科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錠劑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NT$1,300／盒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年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固定週期與用藥追蹤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61772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898B"/>
                </a:solidFill>
              </a:rPr>
              <a:t>提案主軸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94360" y="5010912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F46"/>
                </a:solidFill>
              </a:rPr>
              <a:t>快樂集團將產品資訊、儲存條件與導入流程整理成一致格式，協助成功院所快速評估適用場景與管理需求。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98B"/>
          </a:solidFill>
          <a:ln w="12700">
            <a:solidFill>
              <a:srgbClr val="168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F46"/>
                </a:solidFill>
              </a:rPr>
              <a:t>產品定位與院所需求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0"/>
                </a:solidFill>
              </a:rPr>
              <a:t>產品特色必須連結到院所流程，才能形成清楚且可執行的導入評估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快樂集團 × 成功院所｜產品資訊提案　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65196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虛構案例資料｜Aiworks 課堂實作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6898B"/>
                </a:solidFill>
              </a:rPr>
              <a:t>合作觀點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58191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F46"/>
                </a:solidFill>
              </a:rPr>
              <a:t>從產品規格延伸到照護流程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94360" y="2377440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3323D"/>
                </a:solidFill>
              </a:rPr>
              <a:t>成功院所評估產品時，除了劑型與價格，也需要同步理解保存方式、人員教育、紀錄責任與病人溝通。快樂集團建議以「場景、流程、文件」三個層次檢視導入條件。</a:t>
            </a:r>
            <a:endParaRPr lang="en-US" sz="14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234440"/>
          <a:ext cx="5074920" cy="3246120"/>
        </p:xfrm>
        <a:graphic>
          <a:graphicData uri="http://schemas.openxmlformats.org/drawingml/2006/table">
            <a:tbl>
              <a:tblPr/>
              <a:tblGrid>
                <a:gridCol w="1234440"/>
                <a:gridCol w="173736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主要場景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院所關注點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曜衡注射液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院內注射與冷鏈交接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溫度紀錄、批次追蹤與備品安排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安鉑凍晶劑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腫瘤科調劑與庫存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規格選擇、批號管理與補貨節點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童護口服液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兒科門診與居家使用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劑量理解、開封日期與家屬操作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穩免錠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慢性免疫照護追蹤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服用紀錄、回診提醒與預算規劃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537960" y="484632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898B"/>
                </a:solidFill>
              </a:rPr>
              <a:t>共同目標：降低資訊落差，讓產品管理與使用說明更一致。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98B"/>
          </a:solidFill>
          <a:ln w="12700">
            <a:solidFill>
              <a:srgbClr val="168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F46"/>
                </a:solidFill>
              </a:rPr>
              <a:t>曜衡注射液 P1001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0"/>
                </a:solidFill>
              </a:rPr>
              <a:t>神經科用藥｜注射劑｜虛構產品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快樂集團 × 成功院所｜產品資訊提案　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65196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虛構案例資料｜Aiworks 課堂實作</a:t>
            </a:r>
            <a:endParaRPr lang="en-US" sz="750" dirty="0"/>
          </a:p>
        </p:txBody>
      </p:sp>
      <p:pic>
        <p:nvPicPr>
          <p:cNvPr id="7" name="Image 0" descr="C:\Users\Facility\Desktop\Aiworks\課程專案\Ipsen\實作素材\Agent 產製檔\assets\products\p1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170432"/>
            <a:ext cx="2880360" cy="2788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98B"/>
                </a:solidFill>
              </a:rPr>
              <a:t>功能定位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" y="14813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F46"/>
                </a:solidFill>
              </a:rPr>
              <a:t>院內急性神經症狀支持用注射產品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" y="2103120"/>
            <a:ext cx="7315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3323D"/>
                </a:solidFill>
              </a:rPr>
              <a:t>曜衡注射液設定為院內短期使用的神經科支持性產品。其虛構作用概念為協助調節過度活躍的神經訊號，供醫療團隊在急性症狀評估後納入處置選項。產品採單次使用包裝，方便護理人員核對批號與使用狀態。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594360" y="32186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98B"/>
                </a:solidFill>
              </a:rPr>
              <a:t>用途與使用情境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354787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323D"/>
                </a:solidFill>
              </a:rPr>
              <a:t>用途情境：適用於具備醫師評估、生命徵象監測與注射照護能力的院內環境。產品可配置於神經科病房、急診觀察區或日間治療單位，實際使用對象與時機須依虛構院內規範確認。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594360" y="4645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5A38"/>
                </a:solidFill>
              </a:rPr>
              <a:t>使用與管理注意事項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4965192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323D"/>
                </a:solidFill>
              </a:rPr>
              <a:t>注意事項：使用前核對身分、產品完整性與冷鏈紀錄。若包裝破損、溶液外觀異常或溫度曾超出設定範圍，應隔離並交由藥事人員判定。使用後需記錄批號、時間與觀察結果。</a:t>
            </a:r>
            <a:endParaRPr lang="en-US" sz="128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224528"/>
          <a:ext cx="3246120" cy="1298448"/>
        </p:xfrm>
        <a:graphic>
          <a:graphicData uri="http://schemas.openxmlformats.org/drawingml/2006/table">
            <a:tbl>
              <a:tblPr/>
              <a:tblGrid>
                <a:gridCol w="114300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基本資訊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產品設定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規格／保存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mL／支，每盒 10 支；2–8°C 冷藏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效期／單價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年；NT$240,000／盒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8275320" y="5715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A55A38"/>
                </a:solidFill>
              </a:rPr>
              <a:t>教學用虛構功能描述，不可作為診斷、處方或實際用藥依據。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98B"/>
          </a:solidFill>
          <a:ln w="12700">
            <a:solidFill>
              <a:srgbClr val="168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F46"/>
                </a:solidFill>
              </a:rPr>
              <a:t>安鉑凍晶劑 P2001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0"/>
                </a:solidFill>
              </a:rPr>
              <a:t>腫瘤科用藥｜凍晶注射劑｜虛構產品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快樂集團 × 成功院所｜產品資訊提案　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65196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虛構案例資料｜Aiworks 課堂實作</a:t>
            </a:r>
            <a:endParaRPr lang="en-US" sz="750" dirty="0"/>
          </a:p>
        </p:txBody>
      </p:sp>
      <p:pic>
        <p:nvPicPr>
          <p:cNvPr id="7" name="Image 0" descr="C:\Users\Facility\Desktop\Aiworks\課程專案\Ipsen\實作素材\Agent 產製檔\assets\products\p2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170432"/>
            <a:ext cx="2880360" cy="2788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98B"/>
                </a:solidFill>
              </a:rPr>
              <a:t>功能定位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" y="14813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F46"/>
                </a:solidFill>
              </a:rPr>
              <a:t>腫瘤治療期間的院內輔助性凍晶製劑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" y="2103120"/>
            <a:ext cx="7315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3323D"/>
                </a:solidFill>
              </a:rPr>
              <a:t>安鉑凍晶劑設定為腫瘤治療期間使用的虛構輔助性產品，作用概念為協助醫療團隊處理療程中出現的特定生理負擔。凍晶形式便於長期保存，兩種規格可依院所作業需求配置庫存。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594360" y="32186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98B"/>
                </a:solidFill>
              </a:rPr>
              <a:t>用途與使用情境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354787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323D"/>
                </a:solidFill>
              </a:rPr>
              <a:t>用途情境：產品由腫瘤科醫師評估後，交由藥事人員依院內標準流程調製。較小規格適合低用量情境，較大規格可支援集中調劑。院所應依平均使用量設定安全庫存與補貨點。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594360" y="4645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5A38"/>
                </a:solidFill>
              </a:rPr>
              <a:t>使用與管理注意事項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4965192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323D"/>
                </a:solidFill>
              </a:rPr>
              <a:t>注意事項：調製前確認瓶身、效期與批號，並依虛構操作規範完成溶解與外觀檢查。不同規格應分區存放，避免取用錯誤。未使用完畢的內容物不得自行保留或與其他批次混用。</a:t>
            </a:r>
            <a:endParaRPr lang="en-US" sz="128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224528"/>
          <a:ext cx="3246120" cy="1298448"/>
        </p:xfrm>
        <a:graphic>
          <a:graphicData uri="http://schemas.openxmlformats.org/drawingml/2006/table">
            <a:tbl>
              <a:tblPr/>
              <a:tblGrid>
                <a:gridCol w="114300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基本資訊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產品設定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規格／保存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 mg、100 mg／瓶，每盒 5 瓶；室溫避光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效期／單價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年；NT$700／瓶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8275320" y="5715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A55A38"/>
                </a:solidFill>
              </a:rPr>
              <a:t>教學用虛構功能描述，不可作為診斷、處方或實際用藥依據。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98B"/>
          </a:solidFill>
          <a:ln w="12700">
            <a:solidFill>
              <a:srgbClr val="168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F46"/>
                </a:solidFill>
              </a:rPr>
              <a:t>童護口服液 P3001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0"/>
                </a:solidFill>
              </a:rPr>
              <a:t>兒科用藥｜口服液｜虛構產品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快樂集團 × 成功院所｜產品資訊提案　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65196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虛構案例資料｜Aiworks 課堂實作</a:t>
            </a:r>
            <a:endParaRPr lang="en-US" sz="750" dirty="0"/>
          </a:p>
        </p:txBody>
      </p:sp>
      <p:pic>
        <p:nvPicPr>
          <p:cNvPr id="7" name="Image 0" descr="C:\Users\Facility\Desktop\Aiworks\課程專案\Ipsen\實作素材\Agent 產製檔\assets\products\p3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170432"/>
            <a:ext cx="2880360" cy="2788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98B"/>
                </a:solidFill>
              </a:rPr>
              <a:t>功能定位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" y="14813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F46"/>
                </a:solidFill>
              </a:rPr>
              <a:t>兒童短期不適照護的口服液體產品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" y="2103120"/>
            <a:ext cx="7315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3323D"/>
                </a:solidFill>
              </a:rPr>
              <a:t>童護口服液設定為兒科短期症狀照護使用的虛構產品，作用概念為緩和常見輕度不適，讓兒童在醫療人員評估後獲得較容易吞服的劑型選擇。液體設計可依個別需求量取，並搭配專用量杯減少估算差異。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594360" y="32186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98B"/>
                </a:solidFill>
              </a:rPr>
              <a:t>用途與使用情境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354787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323D"/>
                </a:solidFill>
              </a:rPr>
              <a:t>用途情境：適合無法順利吞嚥錠劑、需要家屬協助的兒童照護情境。院所發放時應說明量杯刻度、每日紀錄方式與開封日期，並請家屬以自己的話重述操作步驟，確認理解。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594360" y="4645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5A38"/>
                </a:solidFill>
              </a:rPr>
              <a:t>使用與管理注意事項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4965192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323D"/>
                </a:solidFill>
              </a:rPr>
              <a:t>注意事項：不得使用家用湯匙代替量杯，也不應自行增加使用次數。若兒童出現持續不適、無法進食、皮膚反應或其他異常狀況，家屬應停止自行處理並聯絡醫療人員。開封後依標籤期限使用。</a:t>
            </a:r>
            <a:endParaRPr lang="en-US" sz="128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224528"/>
          <a:ext cx="3246120" cy="1298448"/>
        </p:xfrm>
        <a:graphic>
          <a:graphicData uri="http://schemas.openxmlformats.org/drawingml/2006/table">
            <a:tbl>
              <a:tblPr/>
              <a:tblGrid>
                <a:gridCol w="114300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基本資訊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產品設定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規格／保存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120 mL／瓶，附量杯；室溫避光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效期／單價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未開封 2 年；NT$180／瓶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8275320" y="5715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A55A38"/>
                </a:solidFill>
              </a:rPr>
              <a:t>教學用虛構功能描述，不可作為診斷、處方或實際用藥依據。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98B"/>
          </a:solidFill>
          <a:ln w="12700">
            <a:solidFill>
              <a:srgbClr val="168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F46"/>
                </a:solidFill>
              </a:rPr>
              <a:t>穩免錠 P4001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0"/>
                </a:solidFill>
              </a:rPr>
              <a:t>免疫科用藥｜錠劑｜虛構產品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快樂集團 × 成功院所｜產品資訊提案　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65196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虛構案例資料｜Aiworks 課堂實作</a:t>
            </a:r>
            <a:endParaRPr lang="en-US" sz="750" dirty="0"/>
          </a:p>
        </p:txBody>
      </p:sp>
      <p:pic>
        <p:nvPicPr>
          <p:cNvPr id="7" name="Image 0" descr="C:\Users\Facility\Desktop\Aiworks\課程專案\Ipsen\實作素材\Agent 產製檔\assets\products\p4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170432"/>
            <a:ext cx="2880360" cy="2788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11704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898B"/>
                </a:solidFill>
              </a:rPr>
              <a:t>功能定位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94360" y="14813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2F46"/>
                </a:solidFill>
              </a:rPr>
              <a:t>慢性免疫照護的固定週期口服產品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94360" y="2103120"/>
            <a:ext cx="7315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23323D"/>
                </a:solidFill>
              </a:rPr>
              <a:t>穩免錠設定為慢性免疫照護使用的虛構產品，作用概念為調節過度的免疫反應，協助醫療團隊維持長期照護計畫。固定劑量與月度包裝有利於建立規律的服用紀錄，也方便院所安排回診與補充提醒。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594360" y="32186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98B"/>
                </a:solidFill>
              </a:rPr>
              <a:t>用途與使用情境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3547872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323D"/>
                </a:solidFill>
              </a:rPr>
              <a:t>用途情境：適合經免疫科醫師完整評估、需要持續追蹤的成人個案。產品可搭配紙本紀錄表或院所既有提醒系統，於每次回診時確認服用狀況、生活變化與尚未解決的疑問。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594360" y="464515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55A38"/>
                </a:solidFill>
              </a:rPr>
              <a:t>使用與管理注意事項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4965192"/>
            <a:ext cx="73152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23323D"/>
                </a:solidFill>
              </a:rPr>
              <a:t>注意事項：開始使用前應確認既往病史、其他用藥與近期健康狀況。使用期間若出現明顯感染徵象、持續發燒或不尋常反應，應儘快聯絡醫療人員。不可自行停用、加量或與他人共用。</a:t>
            </a:r>
            <a:endParaRPr lang="en-US" sz="128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75320" y="4224528"/>
          <a:ext cx="3246120" cy="1298448"/>
        </p:xfrm>
        <a:graphic>
          <a:graphicData uri="http://schemas.openxmlformats.org/drawingml/2006/table">
            <a:tbl>
              <a:tblPr/>
              <a:tblGrid>
                <a:gridCol w="1143000"/>
                <a:gridCol w="2103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基本資訊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產品設定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規格／保存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固定劑量錠劑，30 錠／盒；室溫乾燥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效期／單價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年；NT$1,300／盒</a:t>
                      </a:r>
                      <a:endParaRPr lang="en-US" sz="86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8275320" y="57150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A55A38"/>
                </a:solidFill>
              </a:rPr>
              <a:t>教學用虛構功能描述，不可作為診斷、處方或實際用藥依據。</a:t>
            </a:r>
            <a:endParaRPr lang="en-US" sz="9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98B"/>
          </a:solidFill>
          <a:ln w="12700">
            <a:solidFill>
              <a:srgbClr val="168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F46"/>
                </a:solidFill>
              </a:rPr>
              <a:t>產品比較與介紹重點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0"/>
                </a:solidFill>
              </a:rPr>
              <a:t>同一套欄位呈現差異，讓成功院所能快速辨識導入條件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快樂集團 × 成功院所｜產品資訊提案　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65196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虛構案例資料｜Aiworks 課堂實作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84280" cy="3337560"/>
        </p:xfrm>
        <a:graphic>
          <a:graphicData uri="http://schemas.openxmlformats.org/drawingml/2006/table">
            <a:tbl>
              <a:tblPr/>
              <a:tblGrid>
                <a:gridCol w="1508760"/>
                <a:gridCol w="2468880"/>
                <a:gridCol w="2468880"/>
                <a:gridCol w="2468880"/>
                <a:gridCol w="246888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比較面向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曜衡注射液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安鉑凍晶劑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童護口服液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穩免錠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主要使用者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院內神經科團隊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腫瘤科調劑團隊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兒科病童家屬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免疫科追蹤個案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管理複雜度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高：冷鏈交接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中：規格與批號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中：開封與劑量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低至中：持續追蹤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主要文件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溫度與交接紀錄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庫存與批號卡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劑量說明卡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服用追蹤表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溝通焦點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保存與異常處理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選規格與補貨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家屬容易操作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回診與補充節點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95604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898B"/>
                </a:solidFill>
              </a:rPr>
              <a:t>比較結論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5321808"/>
            <a:ext cx="10698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F46"/>
                </a:solidFill>
              </a:rPr>
              <a:t>四項產品的差異主要來自管理流程。成功院所可依設備、人員與既有文件，選擇合適的導入順序。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98B"/>
          </a:solidFill>
          <a:ln w="12700">
            <a:solidFill>
              <a:srgbClr val="168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3832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F46"/>
                </a:solidFill>
              </a:rPr>
              <a:t>成功院所導入建議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21208" y="786384"/>
            <a:ext cx="10698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580"/>
                </a:solidFill>
              </a:rPr>
              <a:t>快樂集團建議以四週完成流程盤點、資料準備與小範圍試行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6519672"/>
            <a:ext cx="6400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快樂集團 × 成功院所｜產品資訊提案　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321040" y="6519672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4939B"/>
                </a:solidFill>
              </a:rPr>
              <a:t>虛構案例資料｜Aiworks 課堂實作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55680" cy="3383280"/>
        </p:xfrm>
        <a:graphic>
          <a:graphicData uri="http://schemas.openxmlformats.org/drawingml/2006/table">
            <a:tbl>
              <a:tblPr/>
              <a:tblGrid>
                <a:gridCol w="1874520"/>
                <a:gridCol w="3017520"/>
                <a:gridCol w="3154680"/>
                <a:gridCol w="31089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階段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院所工作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快樂集團支援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預期產出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F4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 週：盤點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確認場域、儲存設備與負責人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提供產品資料清單與訪談問題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現況盤點表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週：設計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選定交接、庫存、衛教或追蹤流程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整理對應範例文件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流程草案與責任分工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週：試行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以單一單位進行模擬操作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協助彙整問題與修訂資料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試行紀錄與問題清單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2F4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4 週：確認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確認正式使用版本與教育方式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完成資料包與簡報說明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3323D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院所導入資料包</a:t>
                      </a:r>
                      <a:endParaRPr lang="en-US" sz="9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82296" marR="82296" marT="82296" marB="82296" anchor="ctr">
                    <a:lnL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8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0749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F46"/>
                </a:solidFill>
              </a:rPr>
              <a:t>此時程為教學情境設定，可依成功院所實際流程調整。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0D1"/>
                </a:solidFill>
              </a:rPr>
              <a:t>合作重點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讓產品資訊成為院所可直接使用的流程資料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49808" y="242316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6EA"/>
                </a:solidFill>
              </a:rPr>
              <a:t>快樂集團將依成功院所的儲存條件、工作分工與教育需求，調整產品資訊呈現與導入文件。下一步可選定一項產品，進行單位流程盤點與試行設計。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" y="4343400"/>
            <a:ext cx="5029200" cy="0"/>
          </a:xfrm>
          <a:prstGeom prst="line">
            <a:avLst/>
          </a:prstGeom>
          <a:noFill/>
          <a:ln w="12700">
            <a:solidFill>
              <a:srgbClr val="C9A4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47731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提案單位　快樂集團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5212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提案對象　成功院所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49808" y="6126480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C2CB"/>
                </a:solidFill>
              </a:rPr>
              <a:t>本簡報所有產品、規格、價格與情境皆為教學用虛構資料。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快樂集團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快樂集團提供成功院所之產品資訊提案</dc:subject>
  <dc:creator>Aiworks</dc:creator>
  <cp:lastModifiedBy>Aiworks</cp:lastModifiedBy>
  <cp:revision>1</cp:revision>
  <dcterms:created xsi:type="dcterms:W3CDTF">2026-09-11T05:26:39Z</dcterms:created>
  <dcterms:modified xsi:type="dcterms:W3CDTF">2026-09-11T05:26:39Z</dcterms:modified>
</cp:coreProperties>
</file>